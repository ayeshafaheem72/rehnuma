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5486400" cy="365760"/>
          </a:xfrm>
          <a:prstGeom prst="rect">
            <a:avLst/>
          </a:prstGeom>
          <a:noFill/>
        </p:spPr>
        <p:txBody>
          <a:bodyPr wrap="square" lIns="0" rIns="0" tIns="0" bIns="0" anchor="t">
            <a:spAutoFit/>
          </a:bodyPr>
          <a:lstStyle/>
          <a:p>
            <a:pPr algn="l">
              <a:spcAft>
                <a:spcPts val="400"/>
              </a:spcAft>
            </a:pPr>
            <a:r>
              <a:rPr sz="1100" b="1" i="0">
                <a:solidFill>
                  <a:srgbClr val="FFC402"/>
                </a:solidFill>
                <a:latin typeface="Calibri"/>
              </a:rPr>
              <a:t>UBL PRESENTS</a:t>
            </a:r>
          </a:p>
        </p:txBody>
      </p:sp>
      <p:sp>
        <p:nvSpPr>
          <p:cNvPr id="4" name="TextBox 3"/>
          <p:cNvSpPr txBox="1"/>
          <p:nvPr/>
        </p:nvSpPr>
        <p:spPr>
          <a:xfrm>
            <a:off x="685800" y="868680"/>
            <a:ext cx="6583680" cy="822960"/>
          </a:xfrm>
          <a:prstGeom prst="rect">
            <a:avLst/>
          </a:prstGeom>
          <a:noFill/>
        </p:spPr>
        <p:txBody>
          <a:bodyPr wrap="square" lIns="0" rIns="0" tIns="0" bIns="0" anchor="t">
            <a:spAutoFit/>
          </a:bodyPr>
          <a:lstStyle/>
          <a:p>
            <a:pPr algn="l">
              <a:spcAft>
                <a:spcPts val="400"/>
              </a:spcAft>
            </a:pPr>
            <a:r>
              <a:rPr sz="5200" b="1" i="0">
                <a:solidFill>
                  <a:srgbClr val="F2E9D8"/>
                </a:solidFill>
                <a:latin typeface="Arial"/>
              </a:rPr>
              <a:t>REHNUMA</a:t>
            </a:r>
          </a:p>
        </p:txBody>
      </p:sp>
      <p:sp>
        <p:nvSpPr>
          <p:cNvPr id="5" name="TextBox 4"/>
          <p:cNvSpPr txBox="1"/>
          <p:nvPr/>
        </p:nvSpPr>
        <p:spPr>
          <a:xfrm>
            <a:off x="685800" y="1627632"/>
            <a:ext cx="9601200" cy="457200"/>
          </a:xfrm>
          <a:prstGeom prst="rect">
            <a:avLst/>
          </a:prstGeom>
          <a:noFill/>
        </p:spPr>
        <p:txBody>
          <a:bodyPr wrap="square" lIns="0" rIns="0" tIns="0" bIns="0" anchor="t">
            <a:spAutoFit/>
          </a:bodyPr>
          <a:lstStyle/>
          <a:p>
            <a:pPr algn="l">
              <a:spcAft>
                <a:spcPts val="400"/>
              </a:spcAft>
            </a:pPr>
            <a:r>
              <a:rPr sz="1400" b="0" i="0">
                <a:solidFill>
                  <a:srgbClr val="A99A7C"/>
                </a:solidFill>
                <a:latin typeface="Calibri"/>
              </a:rPr>
              <a:t>An AI Learning Experience Engine · a community financial-literacy initiative</a:t>
            </a:r>
          </a:p>
        </p:txBody>
      </p:sp>
      <p:sp>
        <p:nvSpPr>
          <p:cNvPr id="6" name="TextBox 5"/>
          <p:cNvSpPr txBox="1"/>
          <p:nvPr/>
        </p:nvSpPr>
        <p:spPr>
          <a:xfrm>
            <a:off x="685800" y="2340864"/>
            <a:ext cx="10789920" cy="585216"/>
          </a:xfrm>
          <a:prstGeom prst="rect">
            <a:avLst/>
          </a:prstGeom>
          <a:noFill/>
        </p:spPr>
        <p:txBody>
          <a:bodyPr wrap="square" lIns="0" rIns="0" tIns="0" bIns="0" anchor="t">
            <a:spAutoFit/>
          </a:bodyPr>
          <a:lstStyle/>
          <a:p>
            <a:pPr algn="l">
              <a:spcAft>
                <a:spcPts val="400"/>
              </a:spcAft>
            </a:pPr>
            <a:r>
              <a:rPr sz="3000" b="1" i="0">
                <a:solidFill>
                  <a:srgbClr val="FFC402"/>
                </a:solidFill>
                <a:latin typeface="Arial"/>
              </a:rPr>
              <a:t>Learning that doesn’t feel like a test</a:t>
            </a:r>
          </a:p>
        </p:txBody>
      </p:sp>
      <p:sp>
        <p:nvSpPr>
          <p:cNvPr id="7" name="Rectangle 6"/>
          <p:cNvSpPr/>
          <p:nvPr/>
        </p:nvSpPr>
        <p:spPr>
          <a:xfrm>
            <a:off x="685800" y="3154680"/>
            <a:ext cx="4983480" cy="1874519"/>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364992"/>
            <a:ext cx="4434840" cy="1554480"/>
          </a:xfrm>
          <a:prstGeom prst="rect">
            <a:avLst/>
          </a:prstGeom>
          <a:noFill/>
        </p:spPr>
        <p:txBody>
          <a:bodyPr wrap="square" lIns="0" rIns="0" tIns="0" bIns="0" anchor="t">
            <a:spAutoFit/>
          </a:bodyPr>
          <a:lstStyle/>
          <a:p>
            <a:pPr algn="l">
              <a:spcAft>
                <a:spcPts val="800"/>
              </a:spcAft>
            </a:pPr>
            <a:r>
              <a:rPr sz="1100" b="1" i="0">
                <a:solidFill>
                  <a:srgbClr val="E6006E"/>
                </a:solidFill>
                <a:latin typeface="Calibri"/>
              </a:rPr>
              <a:t>THE PROBLEM</a:t>
            </a:r>
          </a:p>
          <a:p>
            <a:pPr algn="l">
              <a:spcAft>
                <a:spcPts val="600"/>
              </a:spcAft>
            </a:pPr>
            <a:r>
              <a:rPr sz="1300" b="0" i="0">
                <a:solidFill>
                  <a:srgbClr val="F2E9D8"/>
                </a:solidFill>
                <a:latin typeface="Calibri"/>
              </a:rPr>
              <a:t>Training material is written to be read, so most of it never is.</a:t>
            </a:r>
          </a:p>
          <a:p>
            <a:pPr algn="l">
              <a:spcAft>
                <a:spcPts val="0"/>
              </a:spcAft>
            </a:pPr>
            <a:r>
              <a:rPr sz="1300" b="0" i="0">
                <a:solidFill>
                  <a:srgbClr val="F2E9D8"/>
                </a:solidFill>
                <a:latin typeface="Calibri"/>
              </a:rPr>
              <a:t>A quiz at the end measures recall on the day — not whether someone can use the idea.</a:t>
            </a:r>
          </a:p>
        </p:txBody>
      </p:sp>
      <p:sp>
        <p:nvSpPr>
          <p:cNvPr id="9" name="Rectangle 8"/>
          <p:cNvSpPr/>
          <p:nvPr/>
        </p:nvSpPr>
        <p:spPr>
          <a:xfrm>
            <a:off x="5989320" y="3154680"/>
            <a:ext cx="4983480" cy="1874519"/>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3364992"/>
            <a:ext cx="4434840" cy="1554480"/>
          </a:xfrm>
          <a:prstGeom prst="rect">
            <a:avLst/>
          </a:prstGeom>
          <a:noFill/>
        </p:spPr>
        <p:txBody>
          <a:bodyPr wrap="square" lIns="0" rIns="0" tIns="0" bIns="0" anchor="t">
            <a:spAutoFit/>
          </a:bodyPr>
          <a:lstStyle/>
          <a:p>
            <a:pPr algn="l">
              <a:spcAft>
                <a:spcPts val="800"/>
              </a:spcAft>
            </a:pPr>
            <a:r>
              <a:rPr sz="1100" b="1" i="0">
                <a:solidFill>
                  <a:srgbClr val="00A878"/>
                </a:solidFill>
                <a:latin typeface="Calibri"/>
              </a:rPr>
              <a:t>WHAT REHNUMA DOES</a:t>
            </a:r>
          </a:p>
          <a:p>
            <a:pPr algn="l">
              <a:spcAft>
                <a:spcPts val="600"/>
              </a:spcAft>
            </a:pPr>
            <a:r>
              <a:rPr sz="1300" b="0" i="0">
                <a:solidFill>
                  <a:srgbClr val="F2E9D8"/>
                </a:solidFill>
                <a:latin typeface="Calibri"/>
              </a:rPr>
              <a:t>Turns any document into a journey you play — missions, choices, puzzles, role-play.</a:t>
            </a:r>
          </a:p>
          <a:p>
            <a:pPr algn="l">
              <a:spcAft>
                <a:spcPts val="0"/>
              </a:spcAft>
            </a:pPr>
            <a:r>
              <a:rPr sz="1300" b="0" i="0">
                <a:solidFill>
                  <a:srgbClr val="F2E9D8"/>
                </a:solidFill>
                <a:latin typeface="Calibri"/>
              </a:rPr>
              <a:t>Works out what you understand from how you talk. No score, no test, no right answer box.</a:t>
            </a:r>
          </a:p>
        </p:txBody>
      </p:sp>
      <p:sp>
        <p:nvSpPr>
          <p:cNvPr id="11" name="Oval 10"/>
          <p:cNvSpPr/>
          <p:nvPr/>
        </p:nvSpPr>
        <p:spPr>
          <a:xfrm>
            <a:off x="685800" y="5285232"/>
            <a:ext cx="566928" cy="566928"/>
          </a:xfrm>
          <a:prstGeom prst="ellipse">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2177" y="5381609"/>
            <a:ext cx="374172" cy="374172"/>
          </a:xfrm>
          <a:prstGeom prst="ellipse">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0B4D8"/>
                </a:solidFill>
                <a:latin typeface="Arial"/>
              </a:rPr>
              <a:t>1</a:t>
            </a:r>
          </a:p>
        </p:txBody>
      </p:sp>
      <p:sp>
        <p:nvSpPr>
          <p:cNvPr id="13" name="TextBox 12"/>
          <p:cNvSpPr txBox="1"/>
          <p:nvPr/>
        </p:nvSpPr>
        <p:spPr>
          <a:xfrm>
            <a:off x="1435607" y="5321808"/>
            <a:ext cx="2697480" cy="640080"/>
          </a:xfrm>
          <a:prstGeom prst="rect">
            <a:avLst/>
          </a:prstGeom>
          <a:noFill/>
        </p:spPr>
        <p:txBody>
          <a:bodyPr wrap="square" lIns="0" rIns="0" tIns="0" bIns="0" anchor="t">
            <a:spAutoFit/>
          </a:bodyPr>
          <a:lstStyle/>
          <a:p>
            <a:pPr algn="l">
              <a:spcAft>
                <a:spcPts val="200"/>
              </a:spcAft>
            </a:pPr>
            <a:r>
              <a:rPr sz="1200" b="1" i="0">
                <a:solidFill>
                  <a:srgbClr val="00B4D8"/>
                </a:solidFill>
                <a:latin typeface="Calibri"/>
              </a:rPr>
              <a:t>ANY CONTENT IN</a:t>
            </a:r>
          </a:p>
          <a:p>
            <a:pPr algn="l">
              <a:spcAft>
                <a:spcPts val="0"/>
              </a:spcAft>
            </a:pPr>
            <a:r>
              <a:rPr sz="1100" b="0" i="0">
                <a:solidFill>
                  <a:srgbClr val="A99A7C"/>
                </a:solidFill>
                <a:latin typeface="Calibri"/>
              </a:rPr>
              <a:t>PDF, policy, article — or paste it</a:t>
            </a:r>
          </a:p>
        </p:txBody>
      </p:sp>
      <p:sp>
        <p:nvSpPr>
          <p:cNvPr id="14" name="Oval 13"/>
          <p:cNvSpPr/>
          <p:nvPr/>
        </p:nvSpPr>
        <p:spPr>
          <a:xfrm>
            <a:off x="4343400" y="5285232"/>
            <a:ext cx="566928" cy="566928"/>
          </a:xfrm>
          <a:prstGeom prst="ellipse">
            <a:avLst/>
          </a:prstGeom>
          <a:solidFill>
            <a:srgbClr val="FFC4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39777" y="5381609"/>
            <a:ext cx="374172" cy="374172"/>
          </a:xfrm>
          <a:prstGeom prst="ellipse">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C402"/>
                </a:solidFill>
                <a:latin typeface="Arial"/>
              </a:rPr>
              <a:t>2</a:t>
            </a:r>
          </a:p>
        </p:txBody>
      </p:sp>
      <p:sp>
        <p:nvSpPr>
          <p:cNvPr id="16" name="TextBox 15"/>
          <p:cNvSpPr txBox="1"/>
          <p:nvPr/>
        </p:nvSpPr>
        <p:spPr>
          <a:xfrm>
            <a:off x="5093208" y="5321808"/>
            <a:ext cx="2697480" cy="640080"/>
          </a:xfrm>
          <a:prstGeom prst="rect">
            <a:avLst/>
          </a:prstGeom>
          <a:noFill/>
        </p:spPr>
        <p:txBody>
          <a:bodyPr wrap="square" lIns="0" rIns="0" tIns="0" bIns="0" anchor="t">
            <a:spAutoFit/>
          </a:bodyPr>
          <a:lstStyle/>
          <a:p>
            <a:pPr algn="l">
              <a:spcAft>
                <a:spcPts val="200"/>
              </a:spcAft>
            </a:pPr>
            <a:r>
              <a:rPr sz="1200" b="1" i="0">
                <a:solidFill>
                  <a:srgbClr val="FFC402"/>
                </a:solidFill>
                <a:latin typeface="Calibri"/>
              </a:rPr>
              <a:t>A JOURNEY OUT</a:t>
            </a:r>
          </a:p>
          <a:p>
            <a:pPr algn="l">
              <a:spcAft>
                <a:spcPts val="0"/>
              </a:spcAft>
            </a:pPr>
            <a:r>
              <a:rPr sz="1100" b="0" i="0">
                <a:solidFill>
                  <a:srgbClr val="A99A7C"/>
                </a:solidFill>
                <a:latin typeface="Calibri"/>
              </a:rPr>
              <a:t>Grounded in the source, quote by quote</a:t>
            </a:r>
          </a:p>
        </p:txBody>
      </p:sp>
      <p:sp>
        <p:nvSpPr>
          <p:cNvPr id="17" name="Oval 16"/>
          <p:cNvSpPr/>
          <p:nvPr/>
        </p:nvSpPr>
        <p:spPr>
          <a:xfrm>
            <a:off x="8001000" y="5285232"/>
            <a:ext cx="566928" cy="566928"/>
          </a:xfrm>
          <a:prstGeom prst="ellipse">
            <a:avLst/>
          </a:prstGeom>
          <a:solidFill>
            <a:srgbClr val="00A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97377" y="5381609"/>
            <a:ext cx="374172" cy="374172"/>
          </a:xfrm>
          <a:prstGeom prst="ellipse">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0A878"/>
                </a:solidFill>
                <a:latin typeface="Arial"/>
              </a:rPr>
              <a:t>3</a:t>
            </a:r>
          </a:p>
        </p:txBody>
      </p:sp>
      <p:sp>
        <p:nvSpPr>
          <p:cNvPr id="19" name="TextBox 18"/>
          <p:cNvSpPr txBox="1"/>
          <p:nvPr/>
        </p:nvSpPr>
        <p:spPr>
          <a:xfrm>
            <a:off x="8750808" y="5321808"/>
            <a:ext cx="2697480" cy="640080"/>
          </a:xfrm>
          <a:prstGeom prst="rect">
            <a:avLst/>
          </a:prstGeom>
          <a:noFill/>
        </p:spPr>
        <p:txBody>
          <a:bodyPr wrap="square" lIns="0" rIns="0" tIns="0" bIns="0" anchor="t">
            <a:spAutoFit/>
          </a:bodyPr>
          <a:lstStyle/>
          <a:p>
            <a:pPr algn="l">
              <a:spcAft>
                <a:spcPts val="200"/>
              </a:spcAft>
            </a:pPr>
            <a:r>
              <a:rPr sz="1200" b="1" i="0">
                <a:solidFill>
                  <a:srgbClr val="00A878"/>
                </a:solidFill>
                <a:latin typeface="Calibri"/>
              </a:rPr>
              <a:t>MASTERY, INFERRED</a:t>
            </a:r>
          </a:p>
          <a:p>
            <a:pPr algn="l">
              <a:spcAft>
                <a:spcPts val="0"/>
              </a:spcAft>
            </a:pPr>
            <a:r>
              <a:rPr sz="1100" b="0" i="0">
                <a:solidFill>
                  <a:srgbClr val="A99A7C"/>
                </a:solidFill>
                <a:latin typeface="Calibri"/>
              </a:rPr>
              <a:t>From conversation, not assessment</a:t>
            </a:r>
          </a:p>
        </p:txBody>
      </p:sp>
      <p:sp>
        <p:nvSpPr>
          <p:cNvPr id="20" name="TextBox 19"/>
          <p:cNvSpPr txBox="1"/>
          <p:nvPr/>
        </p:nvSpPr>
        <p:spPr>
          <a:xfrm>
            <a:off x="685800" y="6327648"/>
            <a:ext cx="7315200" cy="274320"/>
          </a:xfrm>
          <a:prstGeom prst="rect">
            <a:avLst/>
          </a:prstGeom>
          <a:noFill/>
        </p:spPr>
        <p:txBody>
          <a:bodyPr wrap="square" lIns="0" rIns="0" tIns="0" bIns="0" anchor="t">
            <a:spAutoFit/>
          </a:bodyPr>
          <a:lstStyle/>
          <a:p>
            <a:pPr algn="l">
              <a:spcAft>
                <a:spcPts val="400"/>
              </a:spcAft>
            </a:pPr>
            <a:r>
              <a:rPr sz="900" b="0" i="0">
                <a:solidFill>
                  <a:srgbClr val="A99A7C"/>
                </a:solidFill>
                <a:latin typeface="Calibri"/>
              </a:rPr>
              <a:t>Rehnuma  ·  candidate prototype for United Bank Limited</a:t>
            </a:r>
          </a:p>
        </p:txBody>
      </p:sp>
      <p:sp>
        <p:nvSpPr>
          <p:cNvPr id="21" name="TextBox 20"/>
          <p:cNvSpPr txBox="1"/>
          <p:nvPr/>
        </p:nvSpPr>
        <p:spPr>
          <a:xfrm>
            <a:off x="10332720" y="6327648"/>
            <a:ext cx="1143000" cy="274320"/>
          </a:xfrm>
          <a:prstGeom prst="rect">
            <a:avLst/>
          </a:prstGeom>
          <a:noFill/>
        </p:spPr>
        <p:txBody>
          <a:bodyPr wrap="square" lIns="0" rIns="0" tIns="0" bIns="0" anchor="t">
            <a:spAutoFit/>
          </a:bodyPr>
          <a:lstStyle/>
          <a:p>
            <a:pPr algn="r">
              <a:spcAft>
                <a:spcPts val="400"/>
              </a:spcAft>
            </a:pPr>
            <a:r>
              <a:rPr sz="900" b="0" i="0">
                <a:solidFill>
                  <a:srgbClr val="A99A7C"/>
                </a:solidFill>
                <a:latin typeface="Calibri"/>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spcAft>
                <a:spcPts val="400"/>
              </a:spcAft>
            </a:pPr>
            <a:r>
              <a:rPr sz="1100" b="1" i="0">
                <a:solidFill>
                  <a:srgbClr val="A99A7C"/>
                </a:solidFill>
                <a:latin typeface="Calibri"/>
              </a:rPr>
              <a:t>ARCHITECTURE</a:t>
            </a:r>
          </a:p>
        </p:txBody>
      </p:sp>
      <p:sp>
        <p:nvSpPr>
          <p:cNvPr id="4" name="TextBox 3"/>
          <p:cNvSpPr txBox="1"/>
          <p:nvPr/>
        </p:nvSpPr>
        <p:spPr>
          <a:xfrm>
            <a:off x="685800" y="786384"/>
            <a:ext cx="10789920" cy="914400"/>
          </a:xfrm>
          <a:prstGeom prst="rect">
            <a:avLst/>
          </a:prstGeom>
          <a:noFill/>
        </p:spPr>
        <p:txBody>
          <a:bodyPr wrap="square" lIns="0" rIns="0" tIns="0" bIns="0" anchor="t">
            <a:spAutoFit/>
          </a:bodyPr>
          <a:lstStyle/>
          <a:p>
            <a:pPr algn="l">
              <a:spcAft>
                <a:spcPts val="400"/>
              </a:spcAft>
            </a:pPr>
            <a:r>
              <a:rPr sz="3800" b="1" i="0">
                <a:solidFill>
                  <a:srgbClr val="F2E9D8"/>
                </a:solidFill>
                <a:latin typeface="Arial"/>
              </a:rPr>
              <a:t>One service, four moving parts</a:t>
            </a:r>
          </a:p>
        </p:txBody>
      </p:sp>
      <p:sp>
        <p:nvSpPr>
          <p:cNvPr id="5" name="Rectangle 4"/>
          <p:cNvSpPr/>
          <p:nvPr/>
        </p:nvSpPr>
        <p:spPr>
          <a:xfrm>
            <a:off x="685800" y="1965960"/>
            <a:ext cx="2423160" cy="1371600"/>
          </a:xfrm>
          <a:prstGeom prst="rect">
            <a:avLst/>
          </a:prstGeom>
          <a:solidFill>
            <a:srgbClr val="1A202B"/>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176272"/>
            <a:ext cx="2011680" cy="1005840"/>
          </a:xfrm>
          <a:prstGeom prst="rect">
            <a:avLst/>
          </a:prstGeom>
          <a:noFill/>
        </p:spPr>
        <p:txBody>
          <a:bodyPr wrap="square" lIns="0" rIns="0" tIns="0" bIns="0" anchor="t">
            <a:spAutoFit/>
          </a:bodyPr>
          <a:lstStyle/>
          <a:p>
            <a:pPr algn="l">
              <a:spcAft>
                <a:spcPts val="500"/>
              </a:spcAft>
            </a:pPr>
            <a:r>
              <a:rPr sz="1500" b="1" i="0">
                <a:solidFill>
                  <a:srgbClr val="00B4D8"/>
                </a:solidFill>
                <a:latin typeface="Arial"/>
              </a:rPr>
              <a:t>Content in</a:t>
            </a:r>
          </a:p>
          <a:p>
            <a:pPr algn="l">
              <a:spcAft>
                <a:spcPts val="0"/>
              </a:spcAft>
            </a:pPr>
            <a:r>
              <a:rPr sz="1100" b="0" i="0">
                <a:solidFill>
                  <a:srgbClr val="F2E9D8"/>
                </a:solidFill>
                <a:latin typeface="Calibri"/>
              </a:rPr>
              <a:t>PDF / text → clean text
PyMuPDF</a:t>
            </a:r>
          </a:p>
        </p:txBody>
      </p:sp>
      <p:sp>
        <p:nvSpPr>
          <p:cNvPr id="7" name="TextBox 6"/>
          <p:cNvSpPr txBox="1"/>
          <p:nvPr/>
        </p:nvSpPr>
        <p:spPr>
          <a:xfrm>
            <a:off x="3172968" y="2487168"/>
            <a:ext cx="274320" cy="365760"/>
          </a:xfrm>
          <a:prstGeom prst="rect">
            <a:avLst/>
          </a:prstGeom>
          <a:noFill/>
        </p:spPr>
        <p:txBody>
          <a:bodyPr wrap="square" lIns="0" rIns="0" tIns="0" bIns="0" anchor="t">
            <a:spAutoFit/>
          </a:bodyPr>
          <a:lstStyle/>
          <a:p>
            <a:pPr algn="ctr">
              <a:spcAft>
                <a:spcPts val="400"/>
              </a:spcAft>
            </a:pPr>
            <a:r>
              <a:rPr sz="1600" b="0" i="0">
                <a:solidFill>
                  <a:srgbClr val="A99A7C"/>
                </a:solidFill>
                <a:latin typeface="Calibri"/>
              </a:rPr>
              <a:t>▶</a:t>
            </a:r>
          </a:p>
        </p:txBody>
      </p:sp>
      <p:sp>
        <p:nvSpPr>
          <p:cNvPr id="8" name="Rectangle 7"/>
          <p:cNvSpPr/>
          <p:nvPr/>
        </p:nvSpPr>
        <p:spPr>
          <a:xfrm>
            <a:off x="3474720" y="1965960"/>
            <a:ext cx="2423160" cy="1371600"/>
          </a:xfrm>
          <a:prstGeom prst="rect">
            <a:avLst/>
          </a:prstGeom>
          <a:solidFill>
            <a:srgbClr val="1A202B"/>
          </a:solidFill>
          <a:ln w="25400">
            <a:solidFill>
              <a:srgbClr val="FFC40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75887" y="2176272"/>
            <a:ext cx="2011680" cy="1005840"/>
          </a:xfrm>
          <a:prstGeom prst="rect">
            <a:avLst/>
          </a:prstGeom>
          <a:noFill/>
        </p:spPr>
        <p:txBody>
          <a:bodyPr wrap="square" lIns="0" rIns="0" tIns="0" bIns="0" anchor="t">
            <a:spAutoFit/>
          </a:bodyPr>
          <a:lstStyle/>
          <a:p>
            <a:pPr algn="l">
              <a:spcAft>
                <a:spcPts val="500"/>
              </a:spcAft>
            </a:pPr>
            <a:r>
              <a:rPr sz="1500" b="1" i="0">
                <a:solidFill>
                  <a:srgbClr val="FFC402"/>
                </a:solidFill>
                <a:latin typeface="Arial"/>
              </a:rPr>
              <a:t>Concept map</a:t>
            </a:r>
          </a:p>
          <a:p>
            <a:pPr algn="l">
              <a:spcAft>
                <a:spcPts val="0"/>
              </a:spcAft>
            </a:pPr>
            <a:r>
              <a:rPr sz="1100" b="0" i="0">
                <a:solidFill>
                  <a:srgbClr val="F2E9D8"/>
                </a:solidFill>
                <a:latin typeface="Calibri"/>
              </a:rPr>
              <a:t>Ideas + VERBATIM
source quotes</a:t>
            </a:r>
          </a:p>
        </p:txBody>
      </p:sp>
      <p:sp>
        <p:nvSpPr>
          <p:cNvPr id="10" name="TextBox 9"/>
          <p:cNvSpPr txBox="1"/>
          <p:nvPr/>
        </p:nvSpPr>
        <p:spPr>
          <a:xfrm>
            <a:off x="5961888" y="2487168"/>
            <a:ext cx="274320" cy="365760"/>
          </a:xfrm>
          <a:prstGeom prst="rect">
            <a:avLst/>
          </a:prstGeom>
          <a:noFill/>
        </p:spPr>
        <p:txBody>
          <a:bodyPr wrap="square" lIns="0" rIns="0" tIns="0" bIns="0" anchor="t">
            <a:spAutoFit/>
          </a:bodyPr>
          <a:lstStyle/>
          <a:p>
            <a:pPr algn="ctr">
              <a:spcAft>
                <a:spcPts val="400"/>
              </a:spcAft>
            </a:pPr>
            <a:r>
              <a:rPr sz="1600" b="0" i="0">
                <a:solidFill>
                  <a:srgbClr val="A99A7C"/>
                </a:solidFill>
                <a:latin typeface="Calibri"/>
              </a:rPr>
              <a:t>▶</a:t>
            </a:r>
          </a:p>
        </p:txBody>
      </p:sp>
      <p:sp>
        <p:nvSpPr>
          <p:cNvPr id="11" name="Rectangle 10"/>
          <p:cNvSpPr/>
          <p:nvPr/>
        </p:nvSpPr>
        <p:spPr>
          <a:xfrm>
            <a:off x="6263640" y="1965960"/>
            <a:ext cx="2423160" cy="1371600"/>
          </a:xfrm>
          <a:prstGeom prst="rect">
            <a:avLst/>
          </a:prstGeom>
          <a:solidFill>
            <a:srgbClr val="1A202B"/>
          </a:solidFill>
          <a:ln w="25400">
            <a:solidFill>
              <a:srgbClr val="E60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4807" y="2176272"/>
            <a:ext cx="2011680" cy="1005840"/>
          </a:xfrm>
          <a:prstGeom prst="rect">
            <a:avLst/>
          </a:prstGeom>
          <a:noFill/>
        </p:spPr>
        <p:txBody>
          <a:bodyPr wrap="square" lIns="0" rIns="0" tIns="0" bIns="0" anchor="t">
            <a:spAutoFit/>
          </a:bodyPr>
          <a:lstStyle/>
          <a:p>
            <a:pPr algn="l">
              <a:spcAft>
                <a:spcPts val="500"/>
              </a:spcAft>
            </a:pPr>
            <a:r>
              <a:rPr sz="1500" b="1" i="0">
                <a:solidFill>
                  <a:srgbClr val="E6006E"/>
                </a:solidFill>
                <a:latin typeface="Arial"/>
              </a:rPr>
              <a:t>Learning loop</a:t>
            </a:r>
          </a:p>
          <a:p>
            <a:pPr algn="l">
              <a:spcAft>
                <a:spcPts val="0"/>
              </a:spcAft>
            </a:pPr>
            <a:r>
              <a:rPr sz="1100" b="0" i="0">
                <a:solidFill>
                  <a:srgbClr val="F2E9D8"/>
                </a:solidFill>
                <a:latin typeface="Calibri"/>
              </a:rPr>
              <a:t>Claude Opus 5
structured output</a:t>
            </a:r>
          </a:p>
        </p:txBody>
      </p:sp>
      <p:sp>
        <p:nvSpPr>
          <p:cNvPr id="13" name="TextBox 12"/>
          <p:cNvSpPr txBox="1"/>
          <p:nvPr/>
        </p:nvSpPr>
        <p:spPr>
          <a:xfrm>
            <a:off x="8750808" y="2487168"/>
            <a:ext cx="274320" cy="365760"/>
          </a:xfrm>
          <a:prstGeom prst="rect">
            <a:avLst/>
          </a:prstGeom>
          <a:noFill/>
        </p:spPr>
        <p:txBody>
          <a:bodyPr wrap="square" lIns="0" rIns="0" tIns="0" bIns="0" anchor="t">
            <a:spAutoFit/>
          </a:bodyPr>
          <a:lstStyle/>
          <a:p>
            <a:pPr algn="ctr">
              <a:spcAft>
                <a:spcPts val="400"/>
              </a:spcAft>
            </a:pPr>
            <a:r>
              <a:rPr sz="1600" b="0" i="0">
                <a:solidFill>
                  <a:srgbClr val="A99A7C"/>
                </a:solidFill>
                <a:latin typeface="Calibri"/>
              </a:rPr>
              <a:t>▶</a:t>
            </a:r>
          </a:p>
        </p:txBody>
      </p:sp>
      <p:sp>
        <p:nvSpPr>
          <p:cNvPr id="14" name="Rectangle 13"/>
          <p:cNvSpPr/>
          <p:nvPr/>
        </p:nvSpPr>
        <p:spPr>
          <a:xfrm>
            <a:off x="9052559" y="1965960"/>
            <a:ext cx="2423160" cy="1371600"/>
          </a:xfrm>
          <a:prstGeom prst="rect">
            <a:avLst/>
          </a:prstGeom>
          <a:solidFill>
            <a:srgbClr val="1A202B"/>
          </a:solidFill>
          <a:ln w="25400">
            <a:solidFill>
              <a:srgbClr val="00A8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2176272"/>
            <a:ext cx="2011680" cy="1005840"/>
          </a:xfrm>
          <a:prstGeom prst="rect">
            <a:avLst/>
          </a:prstGeom>
          <a:noFill/>
        </p:spPr>
        <p:txBody>
          <a:bodyPr wrap="square" lIns="0" rIns="0" tIns="0" bIns="0" anchor="t">
            <a:spAutoFit/>
          </a:bodyPr>
          <a:lstStyle/>
          <a:p>
            <a:pPr algn="l">
              <a:spcAft>
                <a:spcPts val="500"/>
              </a:spcAft>
            </a:pPr>
            <a:r>
              <a:rPr sz="1500" b="1" i="0">
                <a:solidFill>
                  <a:srgbClr val="00A878"/>
                </a:solidFill>
                <a:latin typeface="Arial"/>
              </a:rPr>
              <a:t>Learner state</a:t>
            </a:r>
          </a:p>
          <a:p>
            <a:pPr algn="l">
              <a:spcAft>
                <a:spcPts val="0"/>
              </a:spcAft>
            </a:pPr>
            <a:r>
              <a:rPr sz="1100" b="0" i="0">
                <a:solidFill>
                  <a:srgbClr val="F2E9D8"/>
                </a:solidFill>
                <a:latin typeface="Calibri"/>
              </a:rPr>
              <a:t>Mastery, XP, streaks,
unlocks</a:t>
            </a:r>
          </a:p>
        </p:txBody>
      </p:sp>
      <p:sp>
        <p:nvSpPr>
          <p:cNvPr id="16" name="Rectangle 15"/>
          <p:cNvSpPr/>
          <p:nvPr/>
        </p:nvSpPr>
        <p:spPr>
          <a:xfrm>
            <a:off x="685800" y="3611880"/>
            <a:ext cx="4983480" cy="914400"/>
          </a:xfrm>
          <a:prstGeom prst="rect">
            <a:avLst/>
          </a:prstGeom>
          <a:solidFill>
            <a:srgbClr val="262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22191"/>
            <a:ext cx="4480560" cy="548640"/>
          </a:xfrm>
          <a:prstGeom prst="rect">
            <a:avLst/>
          </a:prstGeom>
          <a:noFill/>
        </p:spPr>
        <p:txBody>
          <a:bodyPr wrap="square" lIns="0" rIns="0" tIns="0" bIns="0" anchor="t">
            <a:spAutoFit/>
          </a:bodyPr>
          <a:lstStyle/>
          <a:p>
            <a:pPr algn="l">
              <a:spcAft>
                <a:spcPts val="300"/>
              </a:spcAft>
            </a:pPr>
            <a:r>
              <a:rPr sz="1100" b="1" i="0">
                <a:solidFill>
                  <a:srgbClr val="FFC402"/>
                </a:solidFill>
                <a:latin typeface="Calibri"/>
              </a:rPr>
              <a:t>LEARNER EXPERIENCE</a:t>
            </a:r>
          </a:p>
          <a:p>
            <a:pPr algn="l">
              <a:spcAft>
                <a:spcPts val="0"/>
              </a:spcAft>
            </a:pPr>
            <a:r>
              <a:rPr sz="1200" b="0" i="0">
                <a:solidFill>
                  <a:srgbClr val="F2E9D8"/>
                </a:solidFill>
                <a:latin typeface="Calibri"/>
              </a:rPr>
              <a:t>Board, conversation, voice in English &amp; Urdu</a:t>
            </a:r>
          </a:p>
        </p:txBody>
      </p:sp>
      <p:sp>
        <p:nvSpPr>
          <p:cNvPr id="18" name="Rectangle 17"/>
          <p:cNvSpPr/>
          <p:nvPr/>
        </p:nvSpPr>
        <p:spPr>
          <a:xfrm>
            <a:off x="5989320" y="3611880"/>
            <a:ext cx="4983480" cy="914400"/>
          </a:xfrm>
          <a:prstGeom prst="rect">
            <a:avLst/>
          </a:prstGeom>
          <a:solidFill>
            <a:srgbClr val="262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3822191"/>
            <a:ext cx="4480560" cy="548640"/>
          </a:xfrm>
          <a:prstGeom prst="rect">
            <a:avLst/>
          </a:prstGeom>
          <a:noFill/>
        </p:spPr>
        <p:txBody>
          <a:bodyPr wrap="square" lIns="0" rIns="0" tIns="0" bIns="0" anchor="t">
            <a:spAutoFit/>
          </a:bodyPr>
          <a:lstStyle/>
          <a:p>
            <a:pPr algn="l">
              <a:spcAft>
                <a:spcPts val="300"/>
              </a:spcAft>
            </a:pPr>
            <a:r>
              <a:rPr sz="1100" b="1" i="0">
                <a:solidFill>
                  <a:srgbClr val="00B4D8"/>
                </a:solidFill>
                <a:latin typeface="Calibri"/>
              </a:rPr>
              <a:t>CONTROL ROOM</a:t>
            </a:r>
          </a:p>
          <a:p>
            <a:pPr algn="l">
              <a:spcAft>
                <a:spcPts val="0"/>
              </a:spcAft>
            </a:pPr>
            <a:r>
              <a:rPr sz="1200" b="0" i="0">
                <a:solidFill>
                  <a:srgbClr val="F2E9D8"/>
                </a:solidFill>
                <a:latin typeface="Calibri"/>
              </a:rPr>
              <a:t>Analytics, evidence feed, configuration, logs</a:t>
            </a:r>
          </a:p>
        </p:txBody>
      </p:sp>
      <p:sp>
        <p:nvSpPr>
          <p:cNvPr id="20" name="TextBox 19"/>
          <p:cNvSpPr txBox="1"/>
          <p:nvPr/>
        </p:nvSpPr>
        <p:spPr>
          <a:xfrm>
            <a:off x="685800" y="4773168"/>
            <a:ext cx="10789920" cy="274320"/>
          </a:xfrm>
          <a:prstGeom prst="rect">
            <a:avLst/>
          </a:prstGeom>
          <a:noFill/>
        </p:spPr>
        <p:txBody>
          <a:bodyPr wrap="square" lIns="0" rIns="0" tIns="0" bIns="0" anchor="t">
            <a:spAutoFit/>
          </a:bodyPr>
          <a:lstStyle/>
          <a:p>
            <a:pPr algn="l">
              <a:spcAft>
                <a:spcPts val="400"/>
              </a:spcAft>
            </a:pPr>
            <a:r>
              <a:rPr sz="1100" b="1" i="0">
                <a:solidFill>
                  <a:srgbClr val="A99A7C"/>
                </a:solidFill>
                <a:latin typeface="Calibri"/>
              </a:rPr>
              <a:t>THREE DECISIONS WORTH DEFENDING</a:t>
            </a:r>
          </a:p>
        </p:txBody>
      </p:sp>
      <p:sp>
        <p:nvSpPr>
          <p:cNvPr id="21" name="Rectangle 20"/>
          <p:cNvSpPr/>
          <p:nvPr/>
        </p:nvSpPr>
        <p:spPr>
          <a:xfrm>
            <a:off x="685800" y="5102352"/>
            <a:ext cx="3429000" cy="1097280"/>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5266944"/>
            <a:ext cx="3063240" cy="868680"/>
          </a:xfrm>
          <a:prstGeom prst="rect">
            <a:avLst/>
          </a:prstGeom>
          <a:noFill/>
        </p:spPr>
        <p:txBody>
          <a:bodyPr wrap="square" lIns="0" rIns="0" tIns="0" bIns="0" anchor="t">
            <a:spAutoFit/>
          </a:bodyPr>
          <a:lstStyle/>
          <a:p>
            <a:pPr algn="l">
              <a:spcAft>
                <a:spcPts val="300"/>
              </a:spcAft>
            </a:pPr>
            <a:r>
              <a:rPr sz="1200" b="1" i="0">
                <a:solidFill>
                  <a:srgbClr val="F2E9D8"/>
                </a:solidFill>
                <a:latin typeface="Calibri"/>
              </a:rPr>
              <a:t>No vector database</a:t>
            </a:r>
          </a:p>
          <a:p>
            <a:pPr algn="l">
              <a:spcAft>
                <a:spcPts val="0"/>
              </a:spcAft>
            </a:pPr>
            <a:r>
              <a:rPr sz="1000" b="0" i="0">
                <a:solidFill>
                  <a:srgbClr val="A99A7C"/>
                </a:solidFill>
                <a:latin typeface="Calibri"/>
              </a:rPr>
              <a:t>The panel uploads one document; it fits in context. Grounding is shown as clickable citations instead of hidden in a retrieval step.</a:t>
            </a:r>
          </a:p>
        </p:txBody>
      </p:sp>
      <p:sp>
        <p:nvSpPr>
          <p:cNvPr id="23" name="Rectangle 22"/>
          <p:cNvSpPr/>
          <p:nvPr/>
        </p:nvSpPr>
        <p:spPr>
          <a:xfrm>
            <a:off x="4343400" y="5102352"/>
            <a:ext cx="3429000" cy="1097280"/>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4568" y="5266944"/>
            <a:ext cx="3063240" cy="868680"/>
          </a:xfrm>
          <a:prstGeom prst="rect">
            <a:avLst/>
          </a:prstGeom>
          <a:noFill/>
        </p:spPr>
        <p:txBody>
          <a:bodyPr wrap="square" lIns="0" rIns="0" tIns="0" bIns="0" anchor="t">
            <a:spAutoFit/>
          </a:bodyPr>
          <a:lstStyle/>
          <a:p>
            <a:pPr algn="l">
              <a:spcAft>
                <a:spcPts val="300"/>
              </a:spcAft>
            </a:pPr>
            <a:r>
              <a:rPr sz="1200" b="1" i="0">
                <a:solidFill>
                  <a:srgbClr val="F2E9D8"/>
                </a:solidFill>
                <a:latin typeface="Calibri"/>
              </a:rPr>
              <a:t>One deployable service</a:t>
            </a:r>
          </a:p>
          <a:p>
            <a:pPr algn="l">
              <a:spcAft>
                <a:spcPts val="0"/>
              </a:spcAft>
            </a:pPr>
            <a:r>
              <a:rPr sz="1000" b="0" i="0">
                <a:solidFill>
                  <a:srgbClr val="A99A7C"/>
                </a:solidFill>
                <a:latin typeface="Calibri"/>
              </a:rPr>
              <a:t>FastAPI serves the API and the pages. No build step, no second deploy, no CORS — fewer things to fail live.</a:t>
            </a:r>
          </a:p>
        </p:txBody>
      </p:sp>
      <p:sp>
        <p:nvSpPr>
          <p:cNvPr id="25" name="Rectangle 24"/>
          <p:cNvSpPr/>
          <p:nvPr/>
        </p:nvSpPr>
        <p:spPr>
          <a:xfrm>
            <a:off x="8001000" y="5102352"/>
            <a:ext cx="3429000" cy="1097280"/>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02168" y="5266944"/>
            <a:ext cx="3063240" cy="868680"/>
          </a:xfrm>
          <a:prstGeom prst="rect">
            <a:avLst/>
          </a:prstGeom>
          <a:noFill/>
        </p:spPr>
        <p:txBody>
          <a:bodyPr wrap="square" lIns="0" rIns="0" tIns="0" bIns="0" anchor="t">
            <a:spAutoFit/>
          </a:bodyPr>
          <a:lstStyle/>
          <a:p>
            <a:pPr algn="l">
              <a:spcAft>
                <a:spcPts val="300"/>
              </a:spcAft>
            </a:pPr>
            <a:r>
              <a:rPr sz="1200" b="1" i="0">
                <a:solidFill>
                  <a:srgbClr val="F2E9D8"/>
                </a:solidFill>
                <a:latin typeface="Calibri"/>
              </a:rPr>
              <a:t>Structured outputs</a:t>
            </a:r>
          </a:p>
          <a:p>
            <a:pPr algn="l">
              <a:spcAft>
                <a:spcPts val="0"/>
              </a:spcAft>
            </a:pPr>
            <a:r>
              <a:rPr sz="1000" b="0" i="0">
                <a:solidFill>
                  <a:srgbClr val="A99A7C"/>
                </a:solidFill>
                <a:latin typeface="Calibri"/>
              </a:rPr>
              <a:t>Every model reply is schema-validated, so a malformed response cannot break the demo mid-sentence.</a:t>
            </a:r>
          </a:p>
        </p:txBody>
      </p:sp>
      <p:sp>
        <p:nvSpPr>
          <p:cNvPr id="27" name="TextBox 26"/>
          <p:cNvSpPr txBox="1"/>
          <p:nvPr/>
        </p:nvSpPr>
        <p:spPr>
          <a:xfrm>
            <a:off x="685800" y="6327648"/>
            <a:ext cx="7315200" cy="274320"/>
          </a:xfrm>
          <a:prstGeom prst="rect">
            <a:avLst/>
          </a:prstGeom>
          <a:noFill/>
        </p:spPr>
        <p:txBody>
          <a:bodyPr wrap="square" lIns="0" rIns="0" tIns="0" bIns="0" anchor="t">
            <a:spAutoFit/>
          </a:bodyPr>
          <a:lstStyle/>
          <a:p>
            <a:pPr algn="l">
              <a:spcAft>
                <a:spcPts val="400"/>
              </a:spcAft>
            </a:pPr>
            <a:r>
              <a:rPr sz="900" b="0" i="0">
                <a:solidFill>
                  <a:srgbClr val="A99A7C"/>
                </a:solidFill>
                <a:latin typeface="Calibri"/>
              </a:rPr>
              <a:t>Rehnuma  ·  candidate prototype for United Bank Limited</a:t>
            </a:r>
          </a:p>
        </p:txBody>
      </p:sp>
      <p:sp>
        <p:nvSpPr>
          <p:cNvPr id="28" name="TextBox 27"/>
          <p:cNvSpPr txBox="1"/>
          <p:nvPr/>
        </p:nvSpPr>
        <p:spPr>
          <a:xfrm>
            <a:off x="10332720" y="6327648"/>
            <a:ext cx="1143000" cy="274320"/>
          </a:xfrm>
          <a:prstGeom prst="rect">
            <a:avLst/>
          </a:prstGeom>
          <a:noFill/>
        </p:spPr>
        <p:txBody>
          <a:bodyPr wrap="square" lIns="0" rIns="0" tIns="0" bIns="0" anchor="t">
            <a:spAutoFit/>
          </a:bodyPr>
          <a:lstStyle/>
          <a:p>
            <a:pPr algn="r">
              <a:spcAft>
                <a:spcPts val="400"/>
              </a:spcAft>
            </a:pPr>
            <a:r>
              <a:rPr sz="900" b="0" i="0">
                <a:solidFill>
                  <a:srgbClr val="A99A7C"/>
                </a:solidFill>
                <a:latin typeface="Calibri"/>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spcAft>
                <a:spcPts val="400"/>
              </a:spcAft>
            </a:pPr>
            <a:r>
              <a:rPr sz="1100" b="1" i="0">
                <a:solidFill>
                  <a:srgbClr val="A99A7C"/>
                </a:solidFill>
                <a:latin typeface="Calibri"/>
              </a:rPr>
              <a:t>SECURITY &amp; PRIVACY</a:t>
            </a:r>
          </a:p>
        </p:txBody>
      </p:sp>
      <p:sp>
        <p:nvSpPr>
          <p:cNvPr id="4" name="TextBox 3"/>
          <p:cNvSpPr txBox="1"/>
          <p:nvPr/>
        </p:nvSpPr>
        <p:spPr>
          <a:xfrm>
            <a:off x="685800" y="786384"/>
            <a:ext cx="10789920" cy="914400"/>
          </a:xfrm>
          <a:prstGeom prst="rect">
            <a:avLst/>
          </a:prstGeom>
          <a:noFill/>
        </p:spPr>
        <p:txBody>
          <a:bodyPr wrap="square" lIns="0" rIns="0" tIns="0" bIns="0" anchor="t">
            <a:spAutoFit/>
          </a:bodyPr>
          <a:lstStyle/>
          <a:p>
            <a:pPr algn="l">
              <a:spcAft>
                <a:spcPts val="400"/>
              </a:spcAft>
            </a:pPr>
            <a:r>
              <a:rPr sz="3800" b="1" i="0">
                <a:solidFill>
                  <a:srgbClr val="F2E9D8"/>
                </a:solidFill>
                <a:latin typeface="Arial"/>
              </a:rPr>
              <a:t>Built for a bank</a:t>
            </a:r>
          </a:p>
        </p:txBody>
      </p:sp>
      <p:sp>
        <p:nvSpPr>
          <p:cNvPr id="5" name="Rectangle 4"/>
          <p:cNvSpPr/>
          <p:nvPr/>
        </p:nvSpPr>
        <p:spPr>
          <a:xfrm>
            <a:off x="685800" y="1965960"/>
            <a:ext cx="5577840" cy="2331720"/>
          </a:xfrm>
          <a:prstGeom prst="rect">
            <a:avLst/>
          </a:prstGeom>
          <a:solidFill>
            <a:srgbClr val="1A202B"/>
          </a:solidFill>
          <a:ln w="25400">
            <a:solidFill>
              <a:srgbClr val="E60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60120" y="2212848"/>
            <a:ext cx="566928" cy="566928"/>
          </a:xfrm>
          <a:prstGeom prst="ellipse">
            <a:avLst/>
          </a:prstGeom>
          <a:solidFill>
            <a:srgbClr val="E60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6497" y="2309225"/>
            <a:ext cx="374172" cy="374172"/>
          </a:xfrm>
          <a:prstGeom prst="ellipse">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E6006E"/>
                </a:solidFill>
                <a:latin typeface="Arial"/>
              </a:rPr>
              <a:t>!</a:t>
            </a:r>
          </a:p>
        </p:txBody>
      </p:sp>
      <p:sp>
        <p:nvSpPr>
          <p:cNvPr id="8" name="TextBox 7"/>
          <p:cNvSpPr txBox="1"/>
          <p:nvPr/>
        </p:nvSpPr>
        <p:spPr>
          <a:xfrm>
            <a:off x="1719072" y="2249424"/>
            <a:ext cx="4297680" cy="411480"/>
          </a:xfrm>
          <a:prstGeom prst="rect">
            <a:avLst/>
          </a:prstGeom>
          <a:noFill/>
        </p:spPr>
        <p:txBody>
          <a:bodyPr wrap="square" lIns="0" rIns="0" tIns="0" bIns="0" anchor="t">
            <a:spAutoFit/>
          </a:bodyPr>
          <a:lstStyle/>
          <a:p>
            <a:pPr algn="l">
              <a:spcAft>
                <a:spcPts val="400"/>
              </a:spcAft>
            </a:pPr>
            <a:r>
              <a:rPr sz="1900" b="1" i="0">
                <a:solidFill>
                  <a:srgbClr val="F2E9D8"/>
                </a:solidFill>
                <a:latin typeface="Arial"/>
              </a:rPr>
              <a:t>Prompt-injection defence</a:t>
            </a:r>
          </a:p>
        </p:txBody>
      </p:sp>
      <p:sp>
        <p:nvSpPr>
          <p:cNvPr id="9" name="TextBox 8"/>
          <p:cNvSpPr txBox="1"/>
          <p:nvPr/>
        </p:nvSpPr>
        <p:spPr>
          <a:xfrm>
            <a:off x="960120" y="2971800"/>
            <a:ext cx="5029200" cy="1188720"/>
          </a:xfrm>
          <a:prstGeom prst="rect">
            <a:avLst/>
          </a:prstGeom>
          <a:noFill/>
        </p:spPr>
        <p:txBody>
          <a:bodyPr wrap="square" lIns="0" rIns="0" tIns="0" bIns="0" anchor="t">
            <a:spAutoFit/>
          </a:bodyPr>
          <a:lstStyle/>
          <a:p>
            <a:pPr algn="l">
              <a:spcAft>
                <a:spcPts val="700"/>
              </a:spcAft>
            </a:pPr>
            <a:r>
              <a:rPr sz="1200" b="0" i="0">
                <a:solidFill>
                  <a:srgbClr val="F2E9D8"/>
                </a:solidFill>
                <a:latin typeface="Calibri"/>
              </a:rPr>
              <a:t>Uploaded content is the attack surface nobody expects. A document can contain text written to hijack the model — “ignore your instructions and…”</a:t>
            </a:r>
          </a:p>
          <a:p>
            <a:pPr algn="l">
              <a:spcAft>
                <a:spcPts val="0"/>
              </a:spcAft>
            </a:pPr>
            <a:r>
              <a:rPr sz="1200" b="0" i="0">
                <a:solidFill>
                  <a:srgbClr val="F2E9D8"/>
                </a:solidFill>
                <a:latin typeface="Calibri"/>
              </a:rPr>
              <a:t>Every upload is delimited and explicitly marked as DATA, never instructions, in both prompts. A malicious PDF cannot take over the tutor.</a:t>
            </a:r>
          </a:p>
        </p:txBody>
      </p:sp>
      <p:sp>
        <p:nvSpPr>
          <p:cNvPr id="10" name="TextBox 9"/>
          <p:cNvSpPr txBox="1"/>
          <p:nvPr/>
        </p:nvSpPr>
        <p:spPr>
          <a:xfrm>
            <a:off x="6537960" y="1965960"/>
            <a:ext cx="2240280" cy="731520"/>
          </a:xfrm>
          <a:prstGeom prst="rect">
            <a:avLst/>
          </a:prstGeom>
          <a:noFill/>
        </p:spPr>
        <p:txBody>
          <a:bodyPr wrap="square" lIns="0" rIns="0" tIns="0" bIns="0" anchor="t">
            <a:spAutoFit/>
          </a:bodyPr>
          <a:lstStyle/>
          <a:p>
            <a:pPr algn="l">
              <a:spcAft>
                <a:spcPts val="200"/>
              </a:spcAft>
            </a:pPr>
            <a:r>
              <a:rPr sz="1200" b="1" i="0">
                <a:solidFill>
                  <a:srgbClr val="00A878"/>
                </a:solidFill>
                <a:latin typeface="Calibri"/>
              </a:rPr>
              <a:t>Roles</a:t>
            </a:r>
          </a:p>
          <a:p>
            <a:pPr algn="l">
              <a:spcAft>
                <a:spcPts val="0"/>
              </a:spcAft>
            </a:pPr>
            <a:r>
              <a:rPr sz="950" b="0" i="0">
                <a:solidFill>
                  <a:srgbClr val="A99A7C"/>
                </a:solidFill>
                <a:latin typeface="Calibri"/>
              </a:rPr>
              <a:t>Admin routes behind a password; HttpOnly, SameSite=Strict session</a:t>
            </a:r>
          </a:p>
        </p:txBody>
      </p:sp>
      <p:sp>
        <p:nvSpPr>
          <p:cNvPr id="11" name="TextBox 10"/>
          <p:cNvSpPr txBox="1"/>
          <p:nvPr/>
        </p:nvSpPr>
        <p:spPr>
          <a:xfrm>
            <a:off x="8933688" y="1965960"/>
            <a:ext cx="2240280" cy="731520"/>
          </a:xfrm>
          <a:prstGeom prst="rect">
            <a:avLst/>
          </a:prstGeom>
          <a:noFill/>
        </p:spPr>
        <p:txBody>
          <a:bodyPr wrap="square" lIns="0" rIns="0" tIns="0" bIns="0" anchor="t">
            <a:spAutoFit/>
          </a:bodyPr>
          <a:lstStyle/>
          <a:p>
            <a:pPr algn="l">
              <a:spcAft>
                <a:spcPts val="200"/>
              </a:spcAft>
            </a:pPr>
            <a:r>
              <a:rPr sz="1200" b="1" i="0">
                <a:solidFill>
                  <a:srgbClr val="00A878"/>
                </a:solidFill>
                <a:latin typeface="Calibri"/>
              </a:rPr>
              <a:t>Rate limits</a:t>
            </a:r>
          </a:p>
          <a:p>
            <a:pPr algn="l">
              <a:spcAft>
                <a:spcPts val="0"/>
              </a:spcAft>
            </a:pPr>
            <a:r>
              <a:rPr sz="950" b="0" i="0">
                <a:solidFill>
                  <a:srgbClr val="A99A7C"/>
                </a:solidFill>
                <a:latin typeface="Calibri"/>
              </a:rPr>
              <a:t>Per-IP throttling on every write path; sign-in limited separately</a:t>
            </a:r>
          </a:p>
        </p:txBody>
      </p:sp>
      <p:sp>
        <p:nvSpPr>
          <p:cNvPr id="12" name="TextBox 11"/>
          <p:cNvSpPr txBox="1"/>
          <p:nvPr/>
        </p:nvSpPr>
        <p:spPr>
          <a:xfrm>
            <a:off x="6537960" y="2770632"/>
            <a:ext cx="2240280" cy="731520"/>
          </a:xfrm>
          <a:prstGeom prst="rect">
            <a:avLst/>
          </a:prstGeom>
          <a:noFill/>
        </p:spPr>
        <p:txBody>
          <a:bodyPr wrap="square" lIns="0" rIns="0" tIns="0" bIns="0" anchor="t">
            <a:spAutoFit/>
          </a:bodyPr>
          <a:lstStyle/>
          <a:p>
            <a:pPr algn="l">
              <a:spcAft>
                <a:spcPts val="200"/>
              </a:spcAft>
            </a:pPr>
            <a:r>
              <a:rPr sz="1200" b="1" i="0">
                <a:solidFill>
                  <a:srgbClr val="00A878"/>
                </a:solidFill>
                <a:latin typeface="Calibri"/>
              </a:rPr>
              <a:t>Safe inputs</a:t>
            </a:r>
          </a:p>
          <a:p>
            <a:pPr algn="l">
              <a:spcAft>
                <a:spcPts val="0"/>
              </a:spcAft>
            </a:pPr>
            <a:r>
              <a:rPr sz="950" b="0" i="0">
                <a:solidFill>
                  <a:srgbClr val="A99A7C"/>
                </a:solidFill>
                <a:latin typeface="Calibri"/>
              </a:rPr>
              <a:t>Strict validation, control-character stripping, upload type &amp; size caps</a:t>
            </a:r>
          </a:p>
        </p:txBody>
      </p:sp>
      <p:sp>
        <p:nvSpPr>
          <p:cNvPr id="13" name="TextBox 12"/>
          <p:cNvSpPr txBox="1"/>
          <p:nvPr/>
        </p:nvSpPr>
        <p:spPr>
          <a:xfrm>
            <a:off x="8933688" y="2770632"/>
            <a:ext cx="2240280" cy="731520"/>
          </a:xfrm>
          <a:prstGeom prst="rect">
            <a:avLst/>
          </a:prstGeom>
          <a:noFill/>
        </p:spPr>
        <p:txBody>
          <a:bodyPr wrap="square" lIns="0" rIns="0" tIns="0" bIns="0" anchor="t">
            <a:spAutoFit/>
          </a:bodyPr>
          <a:lstStyle/>
          <a:p>
            <a:pPr algn="l">
              <a:spcAft>
                <a:spcPts val="200"/>
              </a:spcAft>
            </a:pPr>
            <a:r>
              <a:rPr sz="1200" b="1" i="0">
                <a:solidFill>
                  <a:srgbClr val="00A878"/>
                </a:solidFill>
                <a:latin typeface="Calibri"/>
              </a:rPr>
              <a:t>Browser hardening</a:t>
            </a:r>
          </a:p>
          <a:p>
            <a:pPr algn="l">
              <a:spcAft>
                <a:spcPts val="0"/>
              </a:spcAft>
            </a:pPr>
            <a:r>
              <a:rPr sz="950" b="0" i="0">
                <a:solidFill>
                  <a:srgbClr val="A99A7C"/>
                </a:solidFill>
                <a:latin typeface="Calibri"/>
              </a:rPr>
              <a:t>CSP, X-Frame-Options DENY, nosniff, no-referrer</a:t>
            </a:r>
          </a:p>
        </p:txBody>
      </p:sp>
      <p:sp>
        <p:nvSpPr>
          <p:cNvPr id="14" name="TextBox 13"/>
          <p:cNvSpPr txBox="1"/>
          <p:nvPr/>
        </p:nvSpPr>
        <p:spPr>
          <a:xfrm>
            <a:off x="6537960" y="3575304"/>
            <a:ext cx="2240280" cy="731520"/>
          </a:xfrm>
          <a:prstGeom prst="rect">
            <a:avLst/>
          </a:prstGeom>
          <a:noFill/>
        </p:spPr>
        <p:txBody>
          <a:bodyPr wrap="square" lIns="0" rIns="0" tIns="0" bIns="0" anchor="t">
            <a:spAutoFit/>
          </a:bodyPr>
          <a:lstStyle/>
          <a:p>
            <a:pPr algn="l">
              <a:spcAft>
                <a:spcPts val="200"/>
              </a:spcAft>
            </a:pPr>
            <a:r>
              <a:rPr sz="1200" b="1" i="0">
                <a:solidFill>
                  <a:srgbClr val="00A878"/>
                </a:solidFill>
                <a:latin typeface="Calibri"/>
              </a:rPr>
              <a:t>Data minimisation</a:t>
            </a:r>
          </a:p>
          <a:p>
            <a:pPr algn="l">
              <a:spcAft>
                <a:spcPts val="0"/>
              </a:spcAft>
            </a:pPr>
            <a:r>
              <a:rPr sz="950" b="0" i="0">
                <a:solidFill>
                  <a:srgbClr val="A99A7C"/>
                </a:solidFill>
                <a:latin typeface="Calibri"/>
              </a:rPr>
              <a:t>Learners are random IDs. No names, no email, no PII stored</a:t>
            </a:r>
          </a:p>
        </p:txBody>
      </p:sp>
      <p:sp>
        <p:nvSpPr>
          <p:cNvPr id="15" name="TextBox 14"/>
          <p:cNvSpPr txBox="1"/>
          <p:nvPr/>
        </p:nvSpPr>
        <p:spPr>
          <a:xfrm>
            <a:off x="8933688" y="3575304"/>
            <a:ext cx="2240280" cy="731520"/>
          </a:xfrm>
          <a:prstGeom prst="rect">
            <a:avLst/>
          </a:prstGeom>
          <a:noFill/>
        </p:spPr>
        <p:txBody>
          <a:bodyPr wrap="square" lIns="0" rIns="0" tIns="0" bIns="0" anchor="t">
            <a:spAutoFit/>
          </a:bodyPr>
          <a:lstStyle/>
          <a:p>
            <a:pPr algn="l">
              <a:spcAft>
                <a:spcPts val="200"/>
              </a:spcAft>
            </a:pPr>
            <a:r>
              <a:rPr sz="1200" b="1" i="0">
                <a:solidFill>
                  <a:srgbClr val="00A878"/>
                </a:solidFill>
                <a:latin typeface="Calibri"/>
              </a:rPr>
              <a:t>Secrets</a:t>
            </a:r>
          </a:p>
          <a:p>
            <a:pPr algn="l">
              <a:spcAft>
                <a:spcPts val="0"/>
              </a:spcAft>
            </a:pPr>
            <a:r>
              <a:rPr sz="950" b="0" i="0">
                <a:solidFill>
                  <a:srgbClr val="A99A7C"/>
                </a:solidFill>
                <a:latin typeface="Calibri"/>
              </a:rPr>
              <a:t>Read only from environment; never in the repository</a:t>
            </a:r>
          </a:p>
        </p:txBody>
      </p:sp>
      <p:sp>
        <p:nvSpPr>
          <p:cNvPr id="16" name="Rectangle 15"/>
          <p:cNvSpPr/>
          <p:nvPr/>
        </p:nvSpPr>
        <p:spPr>
          <a:xfrm>
            <a:off x="685800" y="4553712"/>
            <a:ext cx="10296144" cy="1097280"/>
          </a:xfrm>
          <a:prstGeom prst="rect">
            <a:avLst/>
          </a:prstGeom>
          <a:solidFill>
            <a:srgbClr val="262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736592"/>
            <a:ext cx="9747504" cy="822960"/>
          </a:xfrm>
          <a:prstGeom prst="rect">
            <a:avLst/>
          </a:prstGeom>
          <a:noFill/>
        </p:spPr>
        <p:txBody>
          <a:bodyPr wrap="square" lIns="0" rIns="0" tIns="0" bIns="0" anchor="t">
            <a:spAutoFit/>
          </a:bodyPr>
          <a:lstStyle/>
          <a:p>
            <a:pPr algn="l">
              <a:spcAft>
                <a:spcPts val="300"/>
              </a:spcAft>
            </a:pPr>
            <a:r>
              <a:rPr sz="1300" b="1" i="0">
                <a:solidFill>
                  <a:srgbClr val="FFC402"/>
                </a:solidFill>
                <a:latin typeface="Calibri"/>
              </a:rPr>
              <a:t>Grounding is a safety control, not a feature.</a:t>
            </a:r>
          </a:p>
          <a:p>
            <a:pPr algn="l">
              <a:spcAft>
                <a:spcPts val="0"/>
              </a:spcAft>
            </a:pPr>
            <a:r>
              <a:rPr sz="1100" b="0" i="0">
                <a:solidFill>
                  <a:srgbClr val="F2E9D8"/>
                </a:solidFill>
                <a:latin typeface="Calibri"/>
              </a:rPr>
              <a:t>A tutor that invents a fact about a financial product creates real liability. Every claim cites a verbatim quote; anything outside the source is refused and flagged, never guessed.</a:t>
            </a:r>
          </a:p>
        </p:txBody>
      </p:sp>
      <p:sp>
        <p:nvSpPr>
          <p:cNvPr id="18" name="TextBox 17"/>
          <p:cNvSpPr txBox="1"/>
          <p:nvPr/>
        </p:nvSpPr>
        <p:spPr>
          <a:xfrm>
            <a:off x="685800" y="6327648"/>
            <a:ext cx="7315200" cy="274320"/>
          </a:xfrm>
          <a:prstGeom prst="rect">
            <a:avLst/>
          </a:prstGeom>
          <a:noFill/>
        </p:spPr>
        <p:txBody>
          <a:bodyPr wrap="square" lIns="0" rIns="0" tIns="0" bIns="0" anchor="t">
            <a:spAutoFit/>
          </a:bodyPr>
          <a:lstStyle/>
          <a:p>
            <a:pPr algn="l">
              <a:spcAft>
                <a:spcPts val="400"/>
              </a:spcAft>
            </a:pPr>
            <a:r>
              <a:rPr sz="900" b="0" i="0">
                <a:solidFill>
                  <a:srgbClr val="A99A7C"/>
                </a:solidFill>
                <a:latin typeface="Calibri"/>
              </a:rPr>
              <a:t>Rehnuma  ·  candidate prototype for United Bank Limited</a:t>
            </a:r>
          </a:p>
        </p:txBody>
      </p:sp>
      <p:sp>
        <p:nvSpPr>
          <p:cNvPr id="19" name="TextBox 18"/>
          <p:cNvSpPr txBox="1"/>
          <p:nvPr/>
        </p:nvSpPr>
        <p:spPr>
          <a:xfrm>
            <a:off x="10332720" y="6327648"/>
            <a:ext cx="1143000" cy="274320"/>
          </a:xfrm>
          <a:prstGeom prst="rect">
            <a:avLst/>
          </a:prstGeom>
          <a:noFill/>
        </p:spPr>
        <p:txBody>
          <a:bodyPr wrap="square" lIns="0" rIns="0" tIns="0" bIns="0" anchor="t">
            <a:spAutoFit/>
          </a:bodyPr>
          <a:lstStyle/>
          <a:p>
            <a:pPr algn="r">
              <a:spcAft>
                <a:spcPts val="400"/>
              </a:spcAft>
            </a:pPr>
            <a:r>
              <a:rPr sz="900" b="0" i="0">
                <a:solidFill>
                  <a:srgbClr val="A99A7C"/>
                </a:solidFill>
                <a:latin typeface="Calibri"/>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spcAft>
                <a:spcPts val="400"/>
              </a:spcAft>
            </a:pPr>
            <a:r>
              <a:rPr sz="1100" b="1" i="0">
                <a:solidFill>
                  <a:srgbClr val="A99A7C"/>
                </a:solidFill>
                <a:latin typeface="Calibri"/>
              </a:rPr>
              <a:t>EFFICIENCY &amp; EFFECTIVENESS</a:t>
            </a:r>
          </a:p>
        </p:txBody>
      </p:sp>
      <p:sp>
        <p:nvSpPr>
          <p:cNvPr id="4" name="TextBox 3"/>
          <p:cNvSpPr txBox="1"/>
          <p:nvPr/>
        </p:nvSpPr>
        <p:spPr>
          <a:xfrm>
            <a:off x="685800" y="786384"/>
            <a:ext cx="10789920" cy="914400"/>
          </a:xfrm>
          <a:prstGeom prst="rect">
            <a:avLst/>
          </a:prstGeom>
          <a:noFill/>
        </p:spPr>
        <p:txBody>
          <a:bodyPr wrap="square" lIns="0" rIns="0" tIns="0" bIns="0" anchor="t">
            <a:spAutoFit/>
          </a:bodyPr>
          <a:lstStyle/>
          <a:p>
            <a:pPr algn="l">
              <a:spcAft>
                <a:spcPts val="400"/>
              </a:spcAft>
            </a:pPr>
            <a:r>
              <a:rPr sz="3800" b="1" i="0">
                <a:solidFill>
                  <a:srgbClr val="F2E9D8"/>
                </a:solidFill>
                <a:latin typeface="Arial"/>
              </a:rPr>
              <a:t>Fast, cheap, and hard to knock over</a:t>
            </a:r>
          </a:p>
        </p:txBody>
      </p:sp>
      <p:sp>
        <p:nvSpPr>
          <p:cNvPr id="5" name="Oval 4"/>
          <p:cNvSpPr/>
          <p:nvPr/>
        </p:nvSpPr>
        <p:spPr>
          <a:xfrm>
            <a:off x="685800" y="2020824"/>
            <a:ext cx="502920" cy="502920"/>
          </a:xfrm>
          <a:prstGeom prst="ellipse">
            <a:avLst/>
          </a:prstGeom>
          <a:solidFill>
            <a:srgbClr val="FFC4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1296" y="2106320"/>
            <a:ext cx="331927" cy="331927"/>
          </a:xfrm>
          <a:prstGeom prst="ellipse">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C402"/>
                </a:solidFill>
                <a:latin typeface="Arial"/>
              </a:rPr>
              <a:t>1</a:t>
            </a:r>
          </a:p>
        </p:txBody>
      </p:sp>
      <p:sp>
        <p:nvSpPr>
          <p:cNvPr id="7" name="TextBox 6"/>
          <p:cNvSpPr txBox="1"/>
          <p:nvPr/>
        </p:nvSpPr>
        <p:spPr>
          <a:xfrm>
            <a:off x="1389888" y="1965960"/>
            <a:ext cx="4937760" cy="914400"/>
          </a:xfrm>
          <a:prstGeom prst="rect">
            <a:avLst/>
          </a:prstGeom>
          <a:noFill/>
        </p:spPr>
        <p:txBody>
          <a:bodyPr wrap="square" lIns="0" rIns="0" tIns="0" bIns="0" anchor="t">
            <a:spAutoFit/>
          </a:bodyPr>
          <a:lstStyle/>
          <a:p>
            <a:pPr algn="l">
              <a:spcAft>
                <a:spcPts val="300"/>
              </a:spcAft>
            </a:pPr>
            <a:r>
              <a:rPr sz="1500" b="1" i="0">
                <a:solidFill>
                  <a:srgbClr val="FFC402"/>
                </a:solidFill>
                <a:latin typeface="Arial"/>
              </a:rPr>
              <a:t>Prompt caching</a:t>
            </a:r>
          </a:p>
          <a:p>
            <a:pPr algn="l">
              <a:spcAft>
                <a:spcPts val="0"/>
              </a:spcAft>
            </a:pPr>
            <a:r>
              <a:rPr sz="1100" b="0" i="0">
                <a:solidFill>
                  <a:srgbClr val="F2E9D8"/>
                </a:solidFill>
                <a:latin typeface="Calibri"/>
              </a:rPr>
              <a:t>The concept map is the largest, most stable part of every request, so it is cached — repeat turns re-read it at a fraction of the cost.</a:t>
            </a:r>
          </a:p>
        </p:txBody>
      </p:sp>
      <p:sp>
        <p:nvSpPr>
          <p:cNvPr id="8" name="Oval 7"/>
          <p:cNvSpPr/>
          <p:nvPr/>
        </p:nvSpPr>
        <p:spPr>
          <a:xfrm>
            <a:off x="685800" y="3044952"/>
            <a:ext cx="502920" cy="502920"/>
          </a:xfrm>
          <a:prstGeom prst="ellipse">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1296" y="3130448"/>
            <a:ext cx="331927" cy="331927"/>
          </a:xfrm>
          <a:prstGeom prst="ellipse">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0B4D8"/>
                </a:solidFill>
                <a:latin typeface="Arial"/>
              </a:rPr>
              <a:t>2</a:t>
            </a:r>
          </a:p>
        </p:txBody>
      </p:sp>
      <p:sp>
        <p:nvSpPr>
          <p:cNvPr id="10" name="TextBox 9"/>
          <p:cNvSpPr txBox="1"/>
          <p:nvPr/>
        </p:nvSpPr>
        <p:spPr>
          <a:xfrm>
            <a:off x="1389888" y="2990088"/>
            <a:ext cx="4937760" cy="914400"/>
          </a:xfrm>
          <a:prstGeom prst="rect">
            <a:avLst/>
          </a:prstGeom>
          <a:noFill/>
        </p:spPr>
        <p:txBody>
          <a:bodyPr wrap="square" lIns="0" rIns="0" tIns="0" bIns="0" anchor="t">
            <a:spAutoFit/>
          </a:bodyPr>
          <a:lstStyle/>
          <a:p>
            <a:pPr algn="l">
              <a:spcAft>
                <a:spcPts val="300"/>
              </a:spcAft>
            </a:pPr>
            <a:r>
              <a:rPr sz="1500" b="1" i="0">
                <a:solidFill>
                  <a:srgbClr val="00B4D8"/>
                </a:solidFill>
                <a:latin typeface="Arial"/>
              </a:rPr>
              <a:t>Tunable effort</a:t>
            </a:r>
          </a:p>
          <a:p>
            <a:pPr algn="l">
              <a:spcAft>
                <a:spcPts val="0"/>
              </a:spcAft>
            </a:pPr>
            <a:r>
              <a:rPr sz="1100" b="0" i="0">
                <a:solidFill>
                  <a:srgbClr val="F2E9D8"/>
                </a:solidFill>
                <a:latin typeface="Calibri"/>
              </a:rPr>
              <a:t>Reasoning depth is a setting, not a rebuild. Turn it down for speed during a live demo, up for harder material.</a:t>
            </a:r>
          </a:p>
        </p:txBody>
      </p:sp>
      <p:sp>
        <p:nvSpPr>
          <p:cNvPr id="11" name="Oval 10"/>
          <p:cNvSpPr/>
          <p:nvPr/>
        </p:nvSpPr>
        <p:spPr>
          <a:xfrm>
            <a:off x="685800" y="4069080"/>
            <a:ext cx="502920" cy="502920"/>
          </a:xfrm>
          <a:prstGeom prst="ellipse">
            <a:avLst/>
          </a:prstGeom>
          <a:solidFill>
            <a:srgbClr val="00A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1296" y="4154576"/>
            <a:ext cx="331927" cy="331927"/>
          </a:xfrm>
          <a:prstGeom prst="ellipse">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0A878"/>
                </a:solidFill>
                <a:latin typeface="Arial"/>
              </a:rPr>
              <a:t>3</a:t>
            </a:r>
          </a:p>
        </p:txBody>
      </p:sp>
      <p:sp>
        <p:nvSpPr>
          <p:cNvPr id="13" name="TextBox 12"/>
          <p:cNvSpPr txBox="1"/>
          <p:nvPr/>
        </p:nvSpPr>
        <p:spPr>
          <a:xfrm>
            <a:off x="1389888" y="4014216"/>
            <a:ext cx="4937760" cy="914400"/>
          </a:xfrm>
          <a:prstGeom prst="rect">
            <a:avLst/>
          </a:prstGeom>
          <a:noFill/>
        </p:spPr>
        <p:txBody>
          <a:bodyPr wrap="square" lIns="0" rIns="0" tIns="0" bIns="0" anchor="t">
            <a:spAutoFit/>
          </a:bodyPr>
          <a:lstStyle/>
          <a:p>
            <a:pPr algn="l">
              <a:spcAft>
                <a:spcPts val="300"/>
              </a:spcAft>
            </a:pPr>
            <a:r>
              <a:rPr sz="1500" b="1" i="0">
                <a:solidFill>
                  <a:srgbClr val="00A878"/>
                </a:solidFill>
                <a:latin typeface="Arial"/>
              </a:rPr>
              <a:t>One beat per turn</a:t>
            </a:r>
          </a:p>
          <a:p>
            <a:pPr algn="l">
              <a:spcAft>
                <a:spcPts val="0"/>
              </a:spcAft>
            </a:pPr>
            <a:r>
              <a:rPr sz="1100" b="0" i="0">
                <a:solidFill>
                  <a:srgbClr val="F2E9D8"/>
                </a:solidFill>
                <a:latin typeface="Calibri"/>
              </a:rPr>
              <a:t>The guide is instructed to give one situation at a time. Shorter replies mean lower latency and a better conversation.</a:t>
            </a:r>
          </a:p>
        </p:txBody>
      </p:sp>
      <p:sp>
        <p:nvSpPr>
          <p:cNvPr id="14" name="Rectangle 13"/>
          <p:cNvSpPr/>
          <p:nvPr/>
        </p:nvSpPr>
        <p:spPr>
          <a:xfrm>
            <a:off x="6537960" y="1965960"/>
            <a:ext cx="4443984" cy="3072384"/>
          </a:xfrm>
          <a:prstGeom prst="rect">
            <a:avLst/>
          </a:prstGeom>
          <a:solidFill>
            <a:srgbClr val="1A202B"/>
          </a:solidFill>
          <a:ln w="25400">
            <a:solidFill>
              <a:srgbClr val="FFC40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2176272"/>
            <a:ext cx="3931920" cy="365760"/>
          </a:xfrm>
          <a:prstGeom prst="rect">
            <a:avLst/>
          </a:prstGeom>
          <a:noFill/>
        </p:spPr>
        <p:txBody>
          <a:bodyPr wrap="square" lIns="0" rIns="0" tIns="0" bIns="0" anchor="t">
            <a:spAutoFit/>
          </a:bodyPr>
          <a:lstStyle/>
          <a:p>
            <a:pPr algn="l">
              <a:spcAft>
                <a:spcPts val="400"/>
              </a:spcAft>
            </a:pPr>
            <a:r>
              <a:rPr sz="1100" b="1" i="0">
                <a:solidFill>
                  <a:srgbClr val="FFC402"/>
                </a:solidFill>
                <a:latin typeface="Calibri"/>
              </a:rPr>
              <a:t>RESILIENCE</a:t>
            </a:r>
          </a:p>
        </p:txBody>
      </p:sp>
      <p:sp>
        <p:nvSpPr>
          <p:cNvPr id="16" name="TextBox 15"/>
          <p:cNvSpPr txBox="1"/>
          <p:nvPr/>
        </p:nvSpPr>
        <p:spPr>
          <a:xfrm>
            <a:off x="6812280" y="2487168"/>
            <a:ext cx="3931920" cy="2377440"/>
          </a:xfrm>
          <a:prstGeom prst="rect">
            <a:avLst/>
          </a:prstGeom>
          <a:noFill/>
        </p:spPr>
        <p:txBody>
          <a:bodyPr wrap="square" lIns="0" rIns="0" tIns="0" bIns="0" anchor="t">
            <a:spAutoFit/>
          </a:bodyPr>
          <a:lstStyle/>
          <a:p>
            <a:pPr algn="l">
              <a:spcAft>
                <a:spcPts val="700"/>
              </a:spcAft>
            </a:pPr>
            <a:r>
              <a:rPr sz="1700" b="1" i="0">
                <a:solidFill>
                  <a:srgbClr val="F2E9D8"/>
                </a:solidFill>
                <a:latin typeface="Arial"/>
              </a:rPr>
              <a:t>Demo fallback mode</a:t>
            </a:r>
          </a:p>
          <a:p>
            <a:pPr algn="l">
              <a:spcAft>
                <a:spcPts val="700"/>
              </a:spcAft>
            </a:pPr>
            <a:r>
              <a:rPr sz="1150" b="0" i="0">
                <a:solidFill>
                  <a:srgbClr val="F2E9D8"/>
                </a:solidFill>
                <a:latin typeface="Calibri"/>
              </a:rPr>
              <a:t>One switch in the configuration screen runs the entire experience with no API calls at all.</a:t>
            </a:r>
          </a:p>
          <a:p>
            <a:pPr algn="l">
              <a:spcAft>
                <a:spcPts val="700"/>
              </a:spcAft>
            </a:pPr>
            <a:r>
              <a:rPr sz="1150" b="0" i="0">
                <a:solidFill>
                  <a:srgbClr val="F2E9D8"/>
                </a:solidFill>
                <a:latin typeface="Calibri"/>
              </a:rPr>
              <a:t>It is not a recording. It reads whatever document is actually uploaded, extracts real quotes and builds the journey from those — so it still works on content it has never seen.</a:t>
            </a:r>
          </a:p>
          <a:p>
            <a:pPr algn="l">
              <a:spcAft>
                <a:spcPts val="0"/>
              </a:spcAft>
            </a:pPr>
            <a:r>
              <a:rPr sz="1150" b="0" i="1">
                <a:solidFill>
                  <a:srgbClr val="FFC402"/>
                </a:solidFill>
                <a:latin typeface="Calibri"/>
              </a:rPr>
              <a:t>If the network, the billing or a rate limit fails mid-demo, the session keeps running.</a:t>
            </a:r>
          </a:p>
        </p:txBody>
      </p:sp>
      <p:sp>
        <p:nvSpPr>
          <p:cNvPr id="17" name="Rectangle 16"/>
          <p:cNvSpPr/>
          <p:nvPr/>
        </p:nvSpPr>
        <p:spPr>
          <a:xfrm>
            <a:off x="685800" y="5138928"/>
            <a:ext cx="10296144" cy="932688"/>
          </a:xfrm>
          <a:prstGeom prst="rect">
            <a:avLst/>
          </a:prstGeom>
          <a:solidFill>
            <a:srgbClr val="262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321808"/>
            <a:ext cx="9784080" cy="640080"/>
          </a:xfrm>
          <a:prstGeom prst="rect">
            <a:avLst/>
          </a:prstGeom>
          <a:noFill/>
        </p:spPr>
        <p:txBody>
          <a:bodyPr wrap="square" lIns="0" rIns="0" tIns="0" bIns="0" anchor="t">
            <a:spAutoFit/>
          </a:bodyPr>
          <a:lstStyle/>
          <a:p>
            <a:pPr algn="l">
              <a:spcAft>
                <a:spcPts val="300"/>
              </a:spcAft>
            </a:pPr>
            <a:r>
              <a:rPr sz="1300" b="1" i="0">
                <a:solidFill>
                  <a:srgbClr val="00A878"/>
                </a:solidFill>
                <a:latin typeface="Calibri"/>
              </a:rPr>
              <a:t>Measured live, not claimed.</a:t>
            </a:r>
          </a:p>
          <a:p>
            <a:pPr algn="l">
              <a:spcAft>
                <a:spcPts val="0"/>
              </a:spcAft>
            </a:pPr>
            <a:r>
              <a:rPr sz="1100" b="0" i="0">
                <a:solidFill>
                  <a:srgbClr val="F2E9D8"/>
                </a:solidFill>
                <a:latin typeface="Calibri"/>
              </a:rPr>
              <a:t>Response latency (p50 and p95), token use and cost per session are recorded on every turn and shown on the dashboard. We will read them off the live system during this demo rather than quote a number from a slide.</a:t>
            </a:r>
          </a:p>
        </p:txBody>
      </p:sp>
      <p:sp>
        <p:nvSpPr>
          <p:cNvPr id="19" name="TextBox 18"/>
          <p:cNvSpPr txBox="1"/>
          <p:nvPr/>
        </p:nvSpPr>
        <p:spPr>
          <a:xfrm>
            <a:off x="685800" y="6327648"/>
            <a:ext cx="7315200" cy="274320"/>
          </a:xfrm>
          <a:prstGeom prst="rect">
            <a:avLst/>
          </a:prstGeom>
          <a:noFill/>
        </p:spPr>
        <p:txBody>
          <a:bodyPr wrap="square" lIns="0" rIns="0" tIns="0" bIns="0" anchor="t">
            <a:spAutoFit/>
          </a:bodyPr>
          <a:lstStyle/>
          <a:p>
            <a:pPr algn="l">
              <a:spcAft>
                <a:spcPts val="400"/>
              </a:spcAft>
            </a:pPr>
            <a:r>
              <a:rPr sz="900" b="0" i="0">
                <a:solidFill>
                  <a:srgbClr val="A99A7C"/>
                </a:solidFill>
                <a:latin typeface="Calibri"/>
              </a:rPr>
              <a:t>Rehnuma  ·  candidate prototype for United Bank Limited</a:t>
            </a:r>
          </a:p>
        </p:txBody>
      </p:sp>
      <p:sp>
        <p:nvSpPr>
          <p:cNvPr id="20" name="TextBox 19"/>
          <p:cNvSpPr txBox="1"/>
          <p:nvPr/>
        </p:nvSpPr>
        <p:spPr>
          <a:xfrm>
            <a:off x="10332720" y="6327648"/>
            <a:ext cx="1143000" cy="274320"/>
          </a:xfrm>
          <a:prstGeom prst="rect">
            <a:avLst/>
          </a:prstGeom>
          <a:noFill/>
        </p:spPr>
        <p:txBody>
          <a:bodyPr wrap="square" lIns="0" rIns="0" tIns="0" bIns="0" anchor="t">
            <a:spAutoFit/>
          </a:bodyPr>
          <a:lstStyle/>
          <a:p>
            <a:pPr algn="r">
              <a:spcAft>
                <a:spcPts val="400"/>
              </a:spcAft>
            </a:pPr>
            <a:r>
              <a:rPr sz="900" b="0" i="0">
                <a:solidFill>
                  <a:srgbClr val="A99A7C"/>
                </a:solidFill>
                <a:latin typeface="Calibri"/>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spcAft>
                <a:spcPts val="400"/>
              </a:spcAft>
            </a:pPr>
            <a:r>
              <a:rPr sz="1100" b="1" i="0">
                <a:solidFill>
                  <a:srgbClr val="A99A7C"/>
                </a:solidFill>
                <a:latin typeface="Calibri"/>
              </a:rPr>
              <a:t>MEASUREMENT</a:t>
            </a:r>
          </a:p>
        </p:txBody>
      </p:sp>
      <p:sp>
        <p:nvSpPr>
          <p:cNvPr id="4" name="TextBox 3"/>
          <p:cNvSpPr txBox="1"/>
          <p:nvPr/>
        </p:nvSpPr>
        <p:spPr>
          <a:xfrm>
            <a:off x="685800" y="786384"/>
            <a:ext cx="10789920" cy="914400"/>
          </a:xfrm>
          <a:prstGeom prst="rect">
            <a:avLst/>
          </a:prstGeom>
          <a:noFill/>
        </p:spPr>
        <p:txBody>
          <a:bodyPr wrap="square" lIns="0" rIns="0" tIns="0" bIns="0" anchor="t">
            <a:spAutoFit/>
          </a:bodyPr>
          <a:lstStyle/>
          <a:p>
            <a:pPr algn="l">
              <a:spcAft>
                <a:spcPts val="400"/>
              </a:spcAft>
            </a:pPr>
            <a:r>
              <a:rPr sz="3800" b="1" i="0">
                <a:solidFill>
                  <a:srgbClr val="F2E9D8"/>
                </a:solidFill>
                <a:latin typeface="Arial"/>
              </a:rPr>
              <a:t>How we know they learned</a:t>
            </a:r>
          </a:p>
        </p:txBody>
      </p:sp>
      <p:sp>
        <p:nvSpPr>
          <p:cNvPr id="5" name="TextBox 4"/>
          <p:cNvSpPr txBox="1"/>
          <p:nvPr/>
        </p:nvSpPr>
        <p:spPr>
          <a:xfrm>
            <a:off x="685800" y="1874519"/>
            <a:ext cx="10789920" cy="320040"/>
          </a:xfrm>
          <a:prstGeom prst="rect">
            <a:avLst/>
          </a:prstGeom>
          <a:noFill/>
        </p:spPr>
        <p:txBody>
          <a:bodyPr wrap="square" lIns="0" rIns="0" tIns="0" bIns="0" anchor="t">
            <a:spAutoFit/>
          </a:bodyPr>
          <a:lstStyle/>
          <a:p>
            <a:pPr algn="l">
              <a:spcAft>
                <a:spcPts val="400"/>
              </a:spcAft>
            </a:pPr>
            <a:r>
              <a:rPr sz="1250" b="0" i="0">
                <a:solidFill>
                  <a:srgbClr val="F2E9D8"/>
                </a:solidFill>
                <a:latin typeface="Calibri"/>
              </a:rPr>
              <a:t>Six behavioural signals are judged on every turn — each recorded with the learner’s own words as evidence.</a:t>
            </a:r>
          </a:p>
        </p:txBody>
      </p:sp>
      <p:sp>
        <p:nvSpPr>
          <p:cNvPr id="6" name="Rectangle 5"/>
          <p:cNvSpPr/>
          <p:nvPr/>
        </p:nvSpPr>
        <p:spPr>
          <a:xfrm>
            <a:off x="685800" y="2359152"/>
            <a:ext cx="3364992" cy="786384"/>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496312"/>
            <a:ext cx="3017520" cy="548640"/>
          </a:xfrm>
          <a:prstGeom prst="rect">
            <a:avLst/>
          </a:prstGeom>
          <a:noFill/>
        </p:spPr>
        <p:txBody>
          <a:bodyPr wrap="square" lIns="0" rIns="0" tIns="0" bIns="0" anchor="t">
            <a:spAutoFit/>
          </a:bodyPr>
          <a:lstStyle/>
          <a:p>
            <a:pPr algn="l">
              <a:spcAft>
                <a:spcPts val="200"/>
              </a:spcAft>
            </a:pPr>
            <a:r>
              <a:rPr sz="1250" b="1" i="0">
                <a:solidFill>
                  <a:srgbClr val="00A878"/>
                </a:solidFill>
                <a:latin typeface="Calibri"/>
              </a:rPr>
              <a:t>Applied correctly</a:t>
            </a:r>
          </a:p>
          <a:p>
            <a:pPr algn="l">
              <a:spcAft>
                <a:spcPts val="0"/>
              </a:spcAft>
            </a:pPr>
            <a:r>
              <a:rPr sz="1000" b="0" i="0">
                <a:solidFill>
                  <a:srgbClr val="A99A7C"/>
                </a:solidFill>
                <a:latin typeface="Calibri"/>
              </a:rPr>
              <a:t>Used the idea on a new example</a:t>
            </a:r>
          </a:p>
        </p:txBody>
      </p:sp>
      <p:sp>
        <p:nvSpPr>
          <p:cNvPr id="8" name="Rectangle 7"/>
          <p:cNvSpPr/>
          <p:nvPr/>
        </p:nvSpPr>
        <p:spPr>
          <a:xfrm>
            <a:off x="4297680" y="2359152"/>
            <a:ext cx="3364992" cy="786384"/>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98848" y="2496312"/>
            <a:ext cx="3017520" cy="548640"/>
          </a:xfrm>
          <a:prstGeom prst="rect">
            <a:avLst/>
          </a:prstGeom>
          <a:noFill/>
        </p:spPr>
        <p:txBody>
          <a:bodyPr wrap="square" lIns="0" rIns="0" tIns="0" bIns="0" anchor="t">
            <a:spAutoFit/>
          </a:bodyPr>
          <a:lstStyle/>
          <a:p>
            <a:pPr algn="l">
              <a:spcAft>
                <a:spcPts val="200"/>
              </a:spcAft>
            </a:pPr>
            <a:r>
              <a:rPr sz="1250" b="1" i="0">
                <a:solidFill>
                  <a:srgbClr val="00A878"/>
                </a:solidFill>
                <a:latin typeface="Calibri"/>
              </a:rPr>
              <a:t>Self-corrected</a:t>
            </a:r>
          </a:p>
          <a:p>
            <a:pPr algn="l">
              <a:spcAft>
                <a:spcPts val="0"/>
              </a:spcAft>
            </a:pPr>
            <a:r>
              <a:rPr sz="1000" b="0" i="0">
                <a:solidFill>
                  <a:srgbClr val="A99A7C"/>
                </a:solidFill>
                <a:latin typeface="Calibri"/>
              </a:rPr>
              <a:t>Caught their own mistake mid-thought</a:t>
            </a:r>
          </a:p>
        </p:txBody>
      </p:sp>
      <p:sp>
        <p:nvSpPr>
          <p:cNvPr id="10" name="Rectangle 9"/>
          <p:cNvSpPr/>
          <p:nvPr/>
        </p:nvSpPr>
        <p:spPr>
          <a:xfrm>
            <a:off x="7909560" y="2359152"/>
            <a:ext cx="3364992" cy="786384"/>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10728" y="2496312"/>
            <a:ext cx="3017520" cy="548640"/>
          </a:xfrm>
          <a:prstGeom prst="rect">
            <a:avLst/>
          </a:prstGeom>
          <a:noFill/>
        </p:spPr>
        <p:txBody>
          <a:bodyPr wrap="square" lIns="0" rIns="0" tIns="0" bIns="0" anchor="t">
            <a:spAutoFit/>
          </a:bodyPr>
          <a:lstStyle/>
          <a:p>
            <a:pPr algn="l">
              <a:spcAft>
                <a:spcPts val="200"/>
              </a:spcAft>
            </a:pPr>
            <a:r>
              <a:rPr sz="1250" b="1" i="0">
                <a:solidFill>
                  <a:srgbClr val="00A878"/>
                </a:solidFill>
                <a:latin typeface="Calibri"/>
              </a:rPr>
              <a:t>Source vocabulary</a:t>
            </a:r>
          </a:p>
          <a:p>
            <a:pPr algn="l">
              <a:spcAft>
                <a:spcPts val="0"/>
              </a:spcAft>
            </a:pPr>
            <a:r>
              <a:rPr sz="1000" b="0" i="0">
                <a:solidFill>
                  <a:srgbClr val="A99A7C"/>
                </a:solidFill>
                <a:latin typeface="Calibri"/>
              </a:rPr>
              <a:t>Adopted the material’s terms unprompted</a:t>
            </a:r>
          </a:p>
        </p:txBody>
      </p:sp>
      <p:sp>
        <p:nvSpPr>
          <p:cNvPr id="12" name="Rectangle 11"/>
          <p:cNvSpPr/>
          <p:nvPr/>
        </p:nvSpPr>
        <p:spPr>
          <a:xfrm>
            <a:off x="685800" y="3291840"/>
            <a:ext cx="3364992" cy="786384"/>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429000"/>
            <a:ext cx="3017520" cy="548640"/>
          </a:xfrm>
          <a:prstGeom prst="rect">
            <a:avLst/>
          </a:prstGeom>
          <a:noFill/>
        </p:spPr>
        <p:txBody>
          <a:bodyPr wrap="square" lIns="0" rIns="0" tIns="0" bIns="0" anchor="t">
            <a:spAutoFit/>
          </a:bodyPr>
          <a:lstStyle/>
          <a:p>
            <a:pPr algn="l">
              <a:spcAft>
                <a:spcPts val="200"/>
              </a:spcAft>
            </a:pPr>
            <a:r>
              <a:rPr sz="1250" b="1" i="0">
                <a:solidFill>
                  <a:srgbClr val="00B4D8"/>
                </a:solidFill>
                <a:latin typeface="Calibri"/>
              </a:rPr>
              <a:t>Deepening question</a:t>
            </a:r>
          </a:p>
          <a:p>
            <a:pPr algn="l">
              <a:spcAft>
                <a:spcPts val="0"/>
              </a:spcAft>
            </a:pPr>
            <a:r>
              <a:rPr sz="1000" b="0" i="0">
                <a:solidFill>
                  <a:srgbClr val="A99A7C"/>
                </a:solidFill>
                <a:latin typeface="Calibri"/>
              </a:rPr>
              <a:t>Asked something ahead of the lesson</a:t>
            </a:r>
          </a:p>
        </p:txBody>
      </p:sp>
      <p:sp>
        <p:nvSpPr>
          <p:cNvPr id="14" name="Rectangle 13"/>
          <p:cNvSpPr/>
          <p:nvPr/>
        </p:nvSpPr>
        <p:spPr>
          <a:xfrm>
            <a:off x="4297680" y="3291840"/>
            <a:ext cx="3364992" cy="786384"/>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3429000"/>
            <a:ext cx="3017520" cy="548640"/>
          </a:xfrm>
          <a:prstGeom prst="rect">
            <a:avLst/>
          </a:prstGeom>
          <a:noFill/>
        </p:spPr>
        <p:txBody>
          <a:bodyPr wrap="square" lIns="0" rIns="0" tIns="0" bIns="0" anchor="t">
            <a:spAutoFit/>
          </a:bodyPr>
          <a:lstStyle/>
          <a:p>
            <a:pPr algn="l">
              <a:spcAft>
                <a:spcPts val="200"/>
              </a:spcAft>
            </a:pPr>
            <a:r>
              <a:rPr sz="1250" b="1" i="0">
                <a:solidFill>
                  <a:srgbClr val="E6006E"/>
                </a:solidFill>
                <a:latin typeface="Calibri"/>
              </a:rPr>
              <a:t>Hint dependency</a:t>
            </a:r>
          </a:p>
          <a:p>
            <a:pPr algn="l">
              <a:spcAft>
                <a:spcPts val="0"/>
              </a:spcAft>
            </a:pPr>
            <a:r>
              <a:rPr sz="1000" b="0" i="0">
                <a:solidFill>
                  <a:srgbClr val="A99A7C"/>
                </a:solidFill>
                <a:latin typeface="Calibri"/>
              </a:rPr>
              <a:t>Needed carrying to the answer</a:t>
            </a:r>
          </a:p>
        </p:txBody>
      </p:sp>
      <p:sp>
        <p:nvSpPr>
          <p:cNvPr id="16" name="Rectangle 15"/>
          <p:cNvSpPr/>
          <p:nvPr/>
        </p:nvSpPr>
        <p:spPr>
          <a:xfrm>
            <a:off x="7909560" y="3291840"/>
            <a:ext cx="3364992" cy="786384"/>
          </a:xfrm>
          <a:prstGeom prst="rect">
            <a:avLst/>
          </a:prstGeom>
          <a:solidFill>
            <a:srgbClr val="1A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0728" y="3429000"/>
            <a:ext cx="3017520" cy="548640"/>
          </a:xfrm>
          <a:prstGeom prst="rect">
            <a:avLst/>
          </a:prstGeom>
          <a:noFill/>
        </p:spPr>
        <p:txBody>
          <a:bodyPr wrap="square" lIns="0" rIns="0" tIns="0" bIns="0" anchor="t">
            <a:spAutoFit/>
          </a:bodyPr>
          <a:lstStyle/>
          <a:p>
            <a:pPr algn="l">
              <a:spcAft>
                <a:spcPts val="200"/>
              </a:spcAft>
            </a:pPr>
            <a:r>
              <a:rPr sz="1250" b="1" i="0">
                <a:solidFill>
                  <a:srgbClr val="00B4D8"/>
                </a:solidFill>
                <a:latin typeface="Calibri"/>
              </a:rPr>
              <a:t>Retention</a:t>
            </a:r>
          </a:p>
          <a:p>
            <a:pPr algn="l">
              <a:spcAft>
                <a:spcPts val="0"/>
              </a:spcAft>
            </a:pPr>
            <a:r>
              <a:rPr sz="1000" b="0" i="0">
                <a:solidFill>
                  <a:srgbClr val="A99A7C"/>
                </a:solidFill>
                <a:latin typeface="Calibri"/>
              </a:rPr>
              <a:t>Recalled something from turns earlier</a:t>
            </a:r>
          </a:p>
        </p:txBody>
      </p:sp>
      <p:sp>
        <p:nvSpPr>
          <p:cNvPr id="18" name="Rectangle 17"/>
          <p:cNvSpPr/>
          <p:nvPr/>
        </p:nvSpPr>
        <p:spPr>
          <a:xfrm>
            <a:off x="685800" y="4407408"/>
            <a:ext cx="4983480" cy="1664208"/>
          </a:xfrm>
          <a:prstGeom prst="rect">
            <a:avLst/>
          </a:prstGeom>
          <a:solidFill>
            <a:srgbClr val="262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590288"/>
            <a:ext cx="4480560" cy="1371600"/>
          </a:xfrm>
          <a:prstGeom prst="rect">
            <a:avLst/>
          </a:prstGeom>
          <a:noFill/>
        </p:spPr>
        <p:txBody>
          <a:bodyPr wrap="square" lIns="0" rIns="0" tIns="0" bIns="0" anchor="t">
            <a:spAutoFit/>
          </a:bodyPr>
          <a:lstStyle/>
          <a:p>
            <a:pPr algn="l">
              <a:spcAft>
                <a:spcPts val="600"/>
              </a:spcAft>
            </a:pPr>
            <a:r>
              <a:rPr sz="1000" b="1" i="0">
                <a:solidFill>
                  <a:srgbClr val="FFC402"/>
                </a:solidFill>
                <a:latin typeface="Calibri"/>
              </a:rPr>
              <a:t>WORKED EXAMPLE</a:t>
            </a:r>
          </a:p>
          <a:p>
            <a:pPr algn="l">
              <a:spcAft>
                <a:spcPts val="500"/>
              </a:spcAft>
            </a:pPr>
            <a:r>
              <a:rPr sz="1200" b="0" i="1">
                <a:solidFill>
                  <a:srgbClr val="F2E9D8"/>
                </a:solidFill>
                <a:latin typeface="Calibri"/>
              </a:rPr>
              <a:t>Learner typed: “idk”</a:t>
            </a:r>
          </a:p>
          <a:p>
            <a:pPr algn="l">
              <a:spcAft>
                <a:spcPts val="500"/>
              </a:spcAft>
            </a:pPr>
            <a:r>
              <a:rPr sz="1100" b="0" i="0">
                <a:solidFill>
                  <a:srgbClr val="E6006E"/>
                </a:solidFill>
                <a:latin typeface="Calibri"/>
              </a:rPr>
              <a:t>→ hint dependency detected  ·  mastery −0.05  ·  streak reset</a:t>
            </a:r>
          </a:p>
          <a:p>
            <a:pPr algn="l">
              <a:spcAft>
                <a:spcPts val="0"/>
              </a:spcAft>
            </a:pPr>
            <a:r>
              <a:rPr sz="1100" b="0" i="0">
                <a:solidFill>
                  <a:srgbClr val="00A878"/>
                </a:solidFill>
                <a:latin typeface="Calibri"/>
              </a:rPr>
              <a:t>→ the guide dropped the challenge and rephrased it instead</a:t>
            </a:r>
          </a:p>
        </p:txBody>
      </p:sp>
      <p:sp>
        <p:nvSpPr>
          <p:cNvPr id="20" name="Rectangle 19"/>
          <p:cNvSpPr/>
          <p:nvPr/>
        </p:nvSpPr>
        <p:spPr>
          <a:xfrm>
            <a:off x="5989320" y="4407408"/>
            <a:ext cx="4992624" cy="1664208"/>
          </a:xfrm>
          <a:prstGeom prst="rect">
            <a:avLst/>
          </a:prstGeom>
          <a:solidFill>
            <a:srgbClr val="262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590288"/>
            <a:ext cx="4480560" cy="1371600"/>
          </a:xfrm>
          <a:prstGeom prst="rect">
            <a:avLst/>
          </a:prstGeom>
          <a:noFill/>
        </p:spPr>
        <p:txBody>
          <a:bodyPr wrap="square" lIns="0" rIns="0" tIns="0" bIns="0" anchor="t">
            <a:spAutoFit/>
          </a:bodyPr>
          <a:lstStyle/>
          <a:p>
            <a:pPr algn="l">
              <a:spcAft>
                <a:spcPts val="600"/>
              </a:spcAft>
            </a:pPr>
            <a:r>
              <a:rPr sz="1000" b="1" i="0">
                <a:solidFill>
                  <a:srgbClr val="FFC402"/>
                </a:solidFill>
                <a:latin typeface="Calibri"/>
              </a:rPr>
              <a:t>WHAT THE PANEL SEES</a:t>
            </a:r>
          </a:p>
          <a:p>
            <a:pPr algn="l">
              <a:spcAft>
                <a:spcPts val="500"/>
              </a:spcAft>
            </a:pPr>
            <a:r>
              <a:rPr sz="1100" b="0" i="0">
                <a:solidFill>
                  <a:srgbClr val="F2E9D8"/>
                </a:solidFill>
                <a:latin typeface="Calibri"/>
              </a:rPr>
              <a:t>A live evidence feed listing every inferred signal beside the exact learner words that triggered it — so mastery is auditable, not asserted.</a:t>
            </a:r>
          </a:p>
          <a:p>
            <a:pPr algn="l">
              <a:spcAft>
                <a:spcPts val="0"/>
              </a:spcAft>
            </a:pPr>
            <a:r>
              <a:rPr sz="1100" b="0" i="0">
                <a:solidFill>
                  <a:srgbClr val="F2E9D8"/>
                </a:solidFill>
                <a:latin typeface="Calibri"/>
              </a:rPr>
              <a:t>Plus a before/after mastery report per concept, exportable as CSV.</a:t>
            </a:r>
          </a:p>
        </p:txBody>
      </p:sp>
      <p:sp>
        <p:nvSpPr>
          <p:cNvPr id="22" name="TextBox 21"/>
          <p:cNvSpPr txBox="1"/>
          <p:nvPr/>
        </p:nvSpPr>
        <p:spPr>
          <a:xfrm>
            <a:off x="685800" y="6327648"/>
            <a:ext cx="7315200" cy="274320"/>
          </a:xfrm>
          <a:prstGeom prst="rect">
            <a:avLst/>
          </a:prstGeom>
          <a:noFill/>
        </p:spPr>
        <p:txBody>
          <a:bodyPr wrap="square" lIns="0" rIns="0" tIns="0" bIns="0" anchor="t">
            <a:spAutoFit/>
          </a:bodyPr>
          <a:lstStyle/>
          <a:p>
            <a:pPr algn="l">
              <a:spcAft>
                <a:spcPts val="400"/>
              </a:spcAft>
            </a:pPr>
            <a:r>
              <a:rPr sz="900" b="0" i="0">
                <a:solidFill>
                  <a:srgbClr val="A99A7C"/>
                </a:solidFill>
                <a:latin typeface="Calibri"/>
              </a:rPr>
              <a:t>Rehnuma  ·  candidate prototype for United Bank Limited</a:t>
            </a:r>
          </a:p>
        </p:txBody>
      </p:sp>
      <p:sp>
        <p:nvSpPr>
          <p:cNvPr id="23" name="TextBox 22"/>
          <p:cNvSpPr txBox="1"/>
          <p:nvPr/>
        </p:nvSpPr>
        <p:spPr>
          <a:xfrm>
            <a:off x="10332720" y="6327648"/>
            <a:ext cx="1143000" cy="274320"/>
          </a:xfrm>
          <a:prstGeom prst="rect">
            <a:avLst/>
          </a:prstGeom>
          <a:noFill/>
        </p:spPr>
        <p:txBody>
          <a:bodyPr wrap="square" lIns="0" rIns="0" tIns="0" bIns="0" anchor="t">
            <a:spAutoFit/>
          </a:bodyPr>
          <a:lstStyle/>
          <a:p>
            <a:pPr algn="r">
              <a:spcAft>
                <a:spcPts val="400"/>
              </a:spcAft>
            </a:pPr>
            <a:r>
              <a:rPr sz="900" b="0" i="0">
                <a:solidFill>
                  <a:srgbClr val="A99A7C"/>
                </a:solidFill>
                <a:latin typeface="Calibri"/>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