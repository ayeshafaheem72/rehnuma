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23576" y="2144268"/>
            <a:ext cx="1472184" cy="1472184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70484" y="2755284"/>
            <a:ext cx="1472184" cy="1472184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59468" y="3008375"/>
            <a:ext cx="1472184" cy="1472184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48451" y="2755284"/>
            <a:ext cx="1472184" cy="1472184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60" y="2144268"/>
            <a:ext cx="1472184" cy="1472184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48451" y="1533251"/>
            <a:ext cx="1472184" cy="1472184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59468" y="1280160"/>
            <a:ext cx="1472184" cy="1472184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70484" y="1533251"/>
            <a:ext cx="1472184" cy="1472184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87484" y="2272284"/>
            <a:ext cx="1216152" cy="1216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50424" y="2564891"/>
            <a:ext cx="630936" cy="630936"/>
          </a:xfrm>
          <a:prstGeom prst="ellipse">
            <a:avLst/>
          </a:prstGeom>
          <a:solidFill>
            <a:srgbClr val="EC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141956" y="2826756"/>
            <a:ext cx="630936" cy="630936"/>
          </a:xfrm>
          <a:prstGeom prst="ellipse">
            <a:avLst/>
          </a:prstGeom>
          <a:solidFill>
            <a:srgbClr val="EC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80092" y="2935223"/>
            <a:ext cx="630936" cy="630936"/>
          </a:xfrm>
          <a:prstGeom prst="ellipse">
            <a:avLst/>
          </a:prstGeom>
          <a:solidFill>
            <a:srgbClr val="EC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8227" y="2826756"/>
            <a:ext cx="630936" cy="630936"/>
          </a:xfrm>
          <a:prstGeom prst="ellipse">
            <a:avLst/>
          </a:prstGeom>
          <a:solidFill>
            <a:srgbClr val="EC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09760" y="2564891"/>
            <a:ext cx="630936" cy="630936"/>
          </a:xfrm>
          <a:prstGeom prst="ellipse">
            <a:avLst/>
          </a:prstGeom>
          <a:solidFill>
            <a:srgbClr val="EC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18227" y="2303027"/>
            <a:ext cx="630936" cy="630936"/>
          </a:xfrm>
          <a:prstGeom prst="ellipse">
            <a:avLst/>
          </a:prstGeom>
          <a:solidFill>
            <a:srgbClr val="EC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80092" y="2194560"/>
            <a:ext cx="630936" cy="630936"/>
          </a:xfrm>
          <a:prstGeom prst="ellipse">
            <a:avLst/>
          </a:prstGeom>
          <a:solidFill>
            <a:srgbClr val="EC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1956" y="2303027"/>
            <a:ext cx="630936" cy="630936"/>
          </a:xfrm>
          <a:prstGeom prst="ellipse">
            <a:avLst/>
          </a:prstGeom>
          <a:solidFill>
            <a:srgbClr val="EC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934956" y="2619756"/>
            <a:ext cx="521208" cy="5212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b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03504"/>
            <a:ext cx="1106424" cy="6766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2960" y="1755648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6800" b="1" i="0">
                <a:solidFill>
                  <a:srgbClr val="0C2B45"/>
                </a:solidFill>
                <a:latin typeface="Cambria"/>
              </a:rPr>
              <a:t>Rehnuma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79806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0" i="0">
                <a:solidFill>
                  <a:srgbClr val="0070B8"/>
                </a:solidFill>
                <a:latin typeface="Calibri"/>
              </a:rPr>
              <a:t>رہنما  —  the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45643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700" b="0" i="0">
                <a:solidFill>
                  <a:srgbClr val="0F5885"/>
                </a:solidFill>
                <a:latin typeface="Cambria"/>
              </a:rPr>
              <a:t>An AI Learning Experience Engine that turns any content into a conversation — and never gives a test.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407408"/>
            <a:ext cx="3017520" cy="25603"/>
          </a:xfrm>
          <a:prstGeom prst="rect">
            <a:avLst/>
          </a:prstGeom>
          <a:solidFill>
            <a:srgbClr val="E6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626864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>
                <a:solidFill>
                  <a:srgbClr val="0070B8"/>
                </a:solidFill>
                <a:latin typeface="Calibri"/>
              </a:rPr>
              <a:t>PREPARED BY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C2B45"/>
                </a:solidFill>
                <a:latin typeface="Cambria"/>
              </a:rPr>
              <a:t>Ayesha Faheem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08285"/>
                </a:solidFill>
                <a:latin typeface="Calibri"/>
              </a:rPr>
              <a:t>InterSec, Inc.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4407408"/>
            <a:ext cx="3017520" cy="25603"/>
          </a:xfrm>
          <a:prstGeom prst="rect">
            <a:avLst/>
          </a:prstGeom>
          <a:solidFill>
            <a:srgbClr val="E6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60520" y="4626864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>
                <a:solidFill>
                  <a:srgbClr val="0070B8"/>
                </a:solidFill>
                <a:latin typeface="Calibri"/>
              </a:rPr>
              <a:t>FOR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C2B45"/>
                </a:solidFill>
                <a:latin typeface="Cambria"/>
              </a:rPr>
              <a:t>United Bank Limited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08285"/>
                </a:solidFill>
                <a:latin typeface="Calibri"/>
              </a:rPr>
              <a:t>Digital HR &amp; AI Manager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4407408"/>
            <a:ext cx="3017520" cy="25603"/>
          </a:xfrm>
          <a:prstGeom prst="rect">
            <a:avLst/>
          </a:prstGeom>
          <a:solidFill>
            <a:srgbClr val="E6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79" y="4626864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>
                <a:solidFill>
                  <a:srgbClr val="0070B8"/>
                </a:solidFill>
                <a:latin typeface="Calibri"/>
              </a:rPr>
              <a:t>THE BRIEF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C2B45"/>
                </a:solidFill>
                <a:latin typeface="Cambria"/>
              </a:rPr>
              <a:t>Design, build and deploy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08285"/>
                </a:solidFill>
                <a:latin typeface="Calibri"/>
              </a:rPr>
              <a:t>A secure, adaptive, voice-enabled learning engine — live on the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3459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850" b="0" i="0">
                <a:solidFill>
                  <a:srgbClr val="808285"/>
                </a:solidFill>
                <a:latin typeface="Calibri"/>
              </a:rPr>
              <a:t>Ayesha Faheem  ·  Digital HR &amp; AI Manager assignment  ·  prototype for assessment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345936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850" b="0" i="0">
                <a:solidFill>
                  <a:srgbClr val="808285"/>
                </a:solidFill>
                <a:latin typeface="Calibri"/>
              </a:rPr>
              <a:t>1 / 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070B8"/>
                </a:solidFill>
                <a:latin typeface="Calibri"/>
              </a:rPr>
              <a:t>THE PROBLEM · AND WHAT REPLACES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4577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4000" b="1" i="0">
                <a:solidFill>
                  <a:srgbClr val="0C2B45"/>
                </a:solidFill>
                <a:latin typeface="Cambria"/>
              </a:rPr>
              <a:t>Nobody ever learned from a 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01952"/>
            <a:ext cx="1054577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800" b="0" i="0">
                <a:solidFill>
                  <a:srgbClr val="0F5885"/>
                </a:solidFill>
                <a:latin typeface="Cambria"/>
              </a:rPr>
              <a:t>A quiz tells you what someone remembered this morning. It does not tell you whether they can use the idea when a customer is standing in front of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52928"/>
            <a:ext cx="10545775" cy="25603"/>
          </a:xfrm>
          <a:prstGeom prst="rect">
            <a:avLst/>
          </a:prstGeom>
          <a:solidFill>
            <a:srgbClr val="E6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950" b="1" i="0">
                <a:solidFill>
                  <a:srgbClr val="0070B8"/>
                </a:solidFill>
                <a:latin typeface="Calibri"/>
              </a:rPr>
              <a:t>SO REHNUMA NEVER TESTS ANYONE</a:t>
            </a:r>
          </a:p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808285"/>
                </a:solidFill>
                <a:latin typeface="Calibri"/>
              </a:rPr>
              <a:t>It gives you situations to act in — a customer at the counter, a colleague who has misunderstood something, a flaw to spot.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808285"/>
                </a:solidFill>
                <a:latin typeface="Calibri"/>
              </a:rPr>
              <a:t>Then it works out what you understand from how you answer: the examples you reach for, the mistakes you catch yourself making, the words you start using.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90672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 i="0">
                <a:solidFill>
                  <a:srgbClr val="E6E7E8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4848" y="3163824"/>
            <a:ext cx="41605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C2B45"/>
                </a:solidFill>
                <a:latin typeface="Cambria"/>
              </a:rPr>
              <a:t>Bring anything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08285"/>
                </a:solidFill>
                <a:latin typeface="Calibri"/>
              </a:rPr>
              <a:t>A PDF, a policy, an article. Thirty seconds later it is a journey.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114800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 i="0">
                <a:solidFill>
                  <a:srgbClr val="E6E7E8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4848" y="4187952"/>
            <a:ext cx="41605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C2B45"/>
                </a:solidFill>
                <a:latin typeface="Cambria"/>
              </a:rPr>
              <a:t>Play, don’t read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08285"/>
                </a:solidFill>
                <a:latin typeface="Calibri"/>
              </a:rPr>
              <a:t>Missions, role-play and puzzles — in English or Urdu, typed or spoken.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138928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 i="0">
                <a:solidFill>
                  <a:srgbClr val="E6E7E8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5212080"/>
            <a:ext cx="41605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C2B45"/>
                </a:solidFill>
                <a:latin typeface="Cambria"/>
              </a:rPr>
              <a:t>Progress, not scores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08285"/>
                </a:solidFill>
                <a:latin typeface="Calibri"/>
              </a:rPr>
              <a:t>Concepts unlock as understanding grows. No pass mark anywhere.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459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850" b="0" i="0">
                <a:solidFill>
                  <a:srgbClr val="808285"/>
                </a:solidFill>
                <a:latin typeface="Calibri"/>
              </a:rPr>
              <a:t>Ayesha Faheem  ·  Digital HR &amp; AI Manager assignment  ·  prototype for assessment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345936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850" b="0" i="0">
                <a:solidFill>
                  <a:srgbClr val="808285"/>
                </a:solidFill>
                <a:latin typeface="Calibri"/>
              </a:rPr>
              <a:t>2 / 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070B8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4577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4000" b="1" i="0">
                <a:solidFill>
                  <a:srgbClr val="0C2B45"/>
                </a:solidFill>
                <a:latin typeface="Cambria"/>
              </a:rPr>
              <a:t>Four steps, one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01952"/>
            <a:ext cx="1054577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800" b="0" i="0">
                <a:solidFill>
                  <a:srgbClr val="0F5885"/>
                </a:solidFill>
                <a:latin typeface="Cambria"/>
              </a:rPr>
              <a:t>It reads your document, notes the ideas inside it, then holds a conversation about them — keeping a running picture of what you have understood.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70B8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273552"/>
            <a:ext cx="2331720" cy="25603"/>
          </a:xfrm>
          <a:prstGeom prst="rect">
            <a:avLst/>
          </a:prstGeom>
          <a:solidFill>
            <a:srgbClr val="007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456432"/>
            <a:ext cx="2331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C2B45"/>
                </a:solidFill>
                <a:latin typeface="Cambria"/>
              </a:rPr>
              <a:t>Read the document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808285"/>
                </a:solidFill>
                <a:latin typeface="Calibri"/>
              </a:rPr>
              <a:t>Text is extracted from the PDF and cleaned.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0A0D0"/>
                </a:solidFill>
                <a:latin typeface="Calibri"/>
              </a:rPr>
              <a:t>PyMuPDF · capped at 60k characters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2152" y="2926080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70B8"/>
                </a:solidFill>
                <a:latin typeface="Calibri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02152" y="3273552"/>
            <a:ext cx="2331720" cy="25603"/>
          </a:xfrm>
          <a:prstGeom prst="rect">
            <a:avLst/>
          </a:prstGeom>
          <a:solidFill>
            <a:srgbClr val="E6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3456432"/>
            <a:ext cx="2331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C2B45"/>
                </a:solidFill>
                <a:latin typeface="Cambria"/>
              </a:rPr>
              <a:t>Map the ideas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808285"/>
                </a:solidFill>
                <a:latin typeface="Calibri"/>
              </a:rPr>
              <a:t>Each idea is stored with the exact sentences it came from.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0A0D0"/>
                </a:solidFill>
                <a:latin typeface="Calibri"/>
              </a:rPr>
              <a:t>One Claude call · schema-validated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1344" y="2926080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70B8"/>
                </a:solidFill>
                <a:latin typeface="Calibri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44" y="3273552"/>
            <a:ext cx="2331720" cy="25603"/>
          </a:xfrm>
          <a:prstGeom prst="rect">
            <a:avLst/>
          </a:prstGeom>
          <a:solidFill>
            <a:srgbClr val="E6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3456432"/>
            <a:ext cx="2331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C2B45"/>
                </a:solidFill>
                <a:latin typeface="Cambria"/>
              </a:rPr>
              <a:t>Hold the conversation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808285"/>
                </a:solidFill>
                <a:latin typeface="Calibri"/>
              </a:rPr>
              <a:t>One situation per turn, adapted to how the learner is doing.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0A0D0"/>
                </a:solidFill>
                <a:latin typeface="Calibri"/>
              </a:rPr>
              <a:t>Claude Opus 5 · concept map cached per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0536" y="2926080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70B8"/>
                </a:solidFill>
                <a:latin typeface="Calibri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0536" y="3273552"/>
            <a:ext cx="2331720" cy="25603"/>
          </a:xfrm>
          <a:prstGeom prst="rect">
            <a:avLst/>
          </a:prstGeom>
          <a:solidFill>
            <a:srgbClr val="E6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0536" y="3456432"/>
            <a:ext cx="2331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C2B45"/>
                </a:solidFill>
                <a:latin typeface="Cambria"/>
              </a:rPr>
              <a:t>Track understanding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808285"/>
                </a:solidFill>
                <a:latin typeface="Calibri"/>
              </a:rPr>
              <a:t>Mastery, streaks and unlocks update from the evidence in each reply.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0A0D0"/>
                </a:solidFill>
                <a:latin typeface="Calibri"/>
              </a:rPr>
              <a:t>Arithmetic in our code, not the model’s memory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084064"/>
            <a:ext cx="10545775" cy="11155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5266944"/>
            <a:ext cx="9966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0C2B45"/>
                </a:solidFill>
                <a:latin typeface="Cambria"/>
              </a:rPr>
              <a:t>Why one service instead of four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08285"/>
                </a:solidFill>
                <a:latin typeface="Calibri"/>
              </a:rPr>
              <a:t>The whole thing is a single Python application that serves both the pages and the API. No separate front-end build, no second deployment, no cross-origin configuration — three fewer things that can fail in front of you, and it deploys to a free cloud tier in one step.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459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850" b="0" i="0">
                <a:solidFill>
                  <a:srgbClr val="808285"/>
                </a:solidFill>
                <a:latin typeface="Calibri"/>
              </a:rPr>
              <a:t>Ayesha Faheem  ·  Digital HR &amp; AI Manager assignment  ·  prototype for assessment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45936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850" b="0" i="0">
                <a:solidFill>
                  <a:srgbClr val="808285"/>
                </a:solidFill>
                <a:latin typeface="Calibri"/>
              </a:rPr>
              <a:t>3 / 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070B8"/>
                </a:solidFill>
                <a:latin typeface="Calibri"/>
              </a:rPr>
              <a:t>SECURITY, PRIVACY &amp;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4577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4000" b="1" i="0">
                <a:solidFill>
                  <a:srgbClr val="0C2B45"/>
                </a:solidFill>
                <a:latin typeface="Cambria"/>
              </a:rPr>
              <a:t>Built for a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01952"/>
            <a:ext cx="1054577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800" b="0" i="0">
                <a:solidFill>
                  <a:srgbClr val="0F5885"/>
                </a:solidFill>
                <a:latin typeface="Cambria"/>
              </a:rPr>
              <a:t>Two risks matter more than the rest: a tutor that invents a fact about a financial product, and a document written to hijack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5074920" cy="23957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3072384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950" b="1" i="0">
                <a:solidFill>
                  <a:srgbClr val="0070B8"/>
                </a:solidFill>
                <a:latin typeface="Calibri"/>
              </a:rPr>
              <a:t>IT CANNOT MAKE THINGS UP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808285"/>
                </a:solidFill>
                <a:latin typeface="Calibri"/>
              </a:rPr>
              <a:t>Every idea is stored with the exact sentences it came from, and every claim the tutor makes carries a citation you can click to see the original line.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08285"/>
                </a:solidFill>
                <a:latin typeface="Calibri"/>
              </a:rPr>
              <a:t>Ask it something the document does not cover and it says so plainly, and flags it. It never fills the gap with a guess.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834640"/>
            <a:ext cx="5074920" cy="23957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3072384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950" b="1" i="0">
                <a:solidFill>
                  <a:srgbClr val="E6006E"/>
                </a:solidFill>
                <a:latin typeface="Calibri"/>
              </a:rPr>
              <a:t>IT CANNOT BE HIJACKED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808285"/>
                </a:solidFill>
                <a:latin typeface="Calibri"/>
              </a:rPr>
              <a:t>Uploaded content is the attack surface nobody expects. A document can contain text aimed at the model — “ignore your instructions and…”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08285"/>
                </a:solidFill>
                <a:latin typeface="Calibri"/>
              </a:rPr>
              <a:t>Every upload is marked as data, never instructions, in both prompts. A malicious file is taught from, not obeyed.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04688"/>
            <a:ext cx="2057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0C2B45"/>
                </a:solidFill>
                <a:latin typeface="Calibri"/>
              </a:rPr>
              <a:t>Roles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08285"/>
                </a:solidFill>
                <a:latin typeface="Calibri"/>
              </a:rPr>
              <a:t>Admin behind a password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5504688"/>
            <a:ext cx="2057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0C2B45"/>
                </a:solidFill>
                <a:latin typeface="Calibri"/>
              </a:rPr>
              <a:t>Rate limits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08285"/>
                </a:solidFill>
                <a:latin typeface="Calibri"/>
              </a:rPr>
              <a:t>Per-IP on every write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5504688"/>
            <a:ext cx="2057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0C2B45"/>
                </a:solidFill>
                <a:latin typeface="Calibri"/>
              </a:rPr>
              <a:t>Safe inputs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08285"/>
                </a:solidFill>
                <a:latin typeface="Calibri"/>
              </a:rPr>
              <a:t>Validated, type &amp; size capped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1504" y="5504688"/>
            <a:ext cx="2057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0C2B45"/>
                </a:solidFill>
                <a:latin typeface="Calibri"/>
              </a:rPr>
              <a:t>Browser hardening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08285"/>
                </a:solidFill>
                <a:latin typeface="Calibri"/>
              </a:rPr>
              <a:t>CSP, frame and sniff protection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74352" y="5504688"/>
            <a:ext cx="2057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0C2B45"/>
                </a:solidFill>
                <a:latin typeface="Calibri"/>
              </a:rPr>
              <a:t>No personal data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08285"/>
                </a:solidFill>
                <a:latin typeface="Calibri"/>
              </a:rPr>
              <a:t>Learners are random IDs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459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850" b="0" i="0">
                <a:solidFill>
                  <a:srgbClr val="808285"/>
                </a:solidFill>
                <a:latin typeface="Calibri"/>
              </a:rPr>
              <a:t>Ayesha Faheem  ·  Digital HR &amp; AI Manager assignment  ·  prototype for 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345936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850" b="0" i="0">
                <a:solidFill>
                  <a:srgbClr val="808285"/>
                </a:solidFill>
                <a:latin typeface="Calibri"/>
              </a:rPr>
              <a:t>4 / 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070B8"/>
                </a:solidFill>
                <a:latin typeface="Calibri"/>
              </a:rPr>
              <a:t>MEASUREMENT &amp;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4577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4000" b="1" i="0">
                <a:solidFill>
                  <a:srgbClr val="0C2B45"/>
                </a:solidFill>
                <a:latin typeface="Cambria"/>
              </a:rPr>
              <a:t>How we know they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01952"/>
            <a:ext cx="1054577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800" b="0" i="0">
                <a:solidFill>
                  <a:srgbClr val="0F5885"/>
                </a:solidFill>
                <a:latin typeface="Cambria"/>
              </a:rPr>
              <a:t>Six things are watched in every reply. Each one is recorded next to the learner’s own words, so progress can be audited rather than trusted.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71216"/>
            <a:ext cx="33832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C2B45"/>
                </a:solidFill>
                <a:latin typeface="Cambria"/>
              </a:rPr>
              <a:t>Applied it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08285"/>
                </a:solidFill>
                <a:latin typeface="Calibri"/>
              </a:rPr>
              <a:t>Used the idea on a new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2871216"/>
            <a:ext cx="33832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C2B45"/>
                </a:solidFill>
                <a:latin typeface="Cambria"/>
              </a:rPr>
              <a:t>Corrected themselves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08285"/>
                </a:solidFill>
                <a:latin typeface="Calibri"/>
              </a:rPr>
              <a:t>Caught their own mistake mid-thought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871216"/>
            <a:ext cx="33832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C2B45"/>
                </a:solidFill>
                <a:latin typeface="Cambria"/>
              </a:rPr>
              <a:t>Borrowed the vocabulary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08285"/>
                </a:solidFill>
                <a:latin typeface="Calibri"/>
              </a:rPr>
              <a:t>Started using the material’s terms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12464"/>
            <a:ext cx="33832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C2B45"/>
                </a:solidFill>
                <a:latin typeface="Cambria"/>
              </a:rPr>
              <a:t>Asked ahead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08285"/>
                </a:solidFill>
                <a:latin typeface="Calibri"/>
              </a:rPr>
              <a:t>Questioned beyond what was covered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712464"/>
            <a:ext cx="33832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C2B45"/>
                </a:solidFill>
                <a:latin typeface="Cambria"/>
              </a:rPr>
              <a:t>Leaned on a hint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08285"/>
                </a:solidFill>
                <a:latin typeface="Calibri"/>
              </a:rPr>
              <a:t>Needed carrying — counts against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3712464"/>
            <a:ext cx="33832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C2B45"/>
                </a:solidFill>
                <a:latin typeface="Cambria"/>
              </a:rPr>
              <a:t>Remembered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08285"/>
                </a:solidFill>
                <a:latin typeface="Calibri"/>
              </a:rPr>
              <a:t>Recalled something from earlier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645152"/>
            <a:ext cx="10545775" cy="25603"/>
          </a:xfrm>
          <a:prstGeom prst="rect">
            <a:avLst/>
          </a:prstGeom>
          <a:solidFill>
            <a:srgbClr val="E6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4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1" i="0">
                <a:solidFill>
                  <a:srgbClr val="0070B8"/>
                </a:solidFill>
                <a:latin typeface="Calibri"/>
              </a:rPr>
              <a:t>WHAT THIS LOOKS LIKE IN PRACTICE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08285"/>
                </a:solidFill>
                <a:latin typeface="Calibri"/>
              </a:rPr>
              <a:t>A learner typed “idk”. The system logged a hint dependency, eased the challenge, reset the streak and lowered that concept’s mastery — without ever marking an answer wrong.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901184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1" i="0">
                <a:solidFill>
                  <a:srgbClr val="0070B8"/>
                </a:solidFill>
                <a:latin typeface="Calibri"/>
              </a:rPr>
              <a:t>AND WHAT YOU CAN TAKE AWAY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08285"/>
                </a:solidFill>
                <a:latin typeface="Calibri"/>
              </a:rPr>
              <a:t>A live evidence feed, before-and-after mastery per concept, engagement and response times — all exportable as a spreadsheet. The figures in this demo are read from the running system, not from this slide.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459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850" b="0" i="0">
                <a:solidFill>
                  <a:srgbClr val="808285"/>
                </a:solidFill>
                <a:latin typeface="Calibri"/>
              </a:rPr>
              <a:t>Ayesha Faheem  ·  Digital HR &amp; AI Manager assignment  ·  prototype for 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345936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850" b="0" i="0">
                <a:solidFill>
                  <a:srgbClr val="808285"/>
                </a:solidFill>
                <a:latin typeface="Calibri"/>
              </a:rPr>
              <a:t>5 / 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