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AND EXPERIENCE. Every training tool ends with a quiz, and a quiz tells you what someone remembered this morning, not whether they can use it. Rehnuma never tests anyone. You give it any material; it turns it into an illustrated story you watch, then a game you play, in English or Urdu, typed or spoken. From how you talk it works out what you understand and changes how it teaches. The pictures on this slide are the real running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One small Python service on Render's free tier serves both the pages and the API, so there is no second deployment and no cross-origin set-up. A document goes in; every quote in the concept map is checked against it before anything is saved; the story is written in the background while the learner reads the map; then the tutor loop runs, streaming each reply. The learner model, meaning mastery, unlocks and the adaptation decisions, is arithmetic in our own code, not the model's memory. The admin changes settings live; they apply on the next reply.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PRIVACY. Two risks matter most for a bank: a tutor that invents a fact about a product, and a document written to hijack it. For the first, every quote is checked against the upload and every claim must cite one; off-source questions are refused and flagged. For the second, uploaded text and chat messages are marked as data and stripped of our own prompt delimiters, and the story can only name a layout or an icon, never supply markup. Around that: signed expiring admin sessions, no default password in production, per-client rate limits that hold behind the proxy, a daily spend cap, a strict content security policy, validated settings, minimal data and one-click erasure.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EFFICIENCY, EFFECTIVENESS AND MEASUREMENT. Fast: replies stream, so the first words arrive in about three seconds instead of after the whole answer; the story is written while the learner reads the concept map, so it is usually ready when they press Start; about seventy percent of the prompt is served from cache; and each job gets the right-sized model, Opus 5 for the tutor's judgement, Sonnet 5 for narration. Effective: adaptation is decided in code from measured evidence, not the model's mood: difficulty, how much support, pace, and which concept comes next. There is no test, so measurement is six behaviours judged in every reply, each stored beside the learner's own words: applied it, corrected themselves, used the vocabulary, asked ahead, leaned on a hint, remembered. Before-and-after mastery per concept is the outcome measure, and the control room shows it with engagement, the learning curve, where learners struggle, helpfulness, latency, cache hits and verified quotes, all filterable and exportable. Honest limits: free storage resets on redeploy and an idle instance takes about forty seconds to wake.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BRIEF IS COVERED. These are the twelve things the brief says a solution must demonstrate. Each row says what covers it here and which technology does the work. If the panel asks where a requirement is, point to its row and then show it in the running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bl-logo.png"/>
          <p:cNvPicPr>
            <a:picLocks noChangeAspect="1"/>
          </p:cNvPicPr>
          <p:nvPr/>
        </p:nvPicPr>
        <p:blipFill>
          <a:blip r:embed="rId3"/>
          <a:stretch>
            <a:fillRect/>
          </a:stretch>
        </p:blipFill>
        <p:spPr>
          <a:xfrm>
            <a:off x="777240" y="91440"/>
            <a:ext cx="508357" cy="310896"/>
          </a:xfrm>
          <a:prstGeom prst="rect">
            <a:avLst/>
          </a:prstGeom>
        </p:spPr>
      </p:pic>
      <p:sp>
        <p:nvSpPr>
          <p:cNvPr id="4" name="TextBox 3"/>
          <p:cNvSpPr txBox="1"/>
          <p:nvPr/>
        </p:nvSpPr>
        <p:spPr>
          <a:xfrm>
            <a:off x="1645919" y="146304"/>
            <a:ext cx="3657600" cy="274320"/>
          </a:xfrm>
          <a:prstGeom prst="rect">
            <a:avLst/>
          </a:prstGeom>
          <a:noFill/>
        </p:spPr>
        <p:txBody>
          <a:bodyPr wrap="square" lIns="0" rIns="0" tIns="0" bIns="0" anchor="t">
            <a:spAutoFit/>
          </a:bodyPr>
          <a:lstStyle/>
          <a:p>
            <a:pPr algn="l">
              <a:spcAft>
                <a:spcPts val="500"/>
              </a:spcAft>
            </a:pPr>
            <a:r>
              <a:rPr sz="1100" b="1" i="0">
                <a:solidFill>
                  <a:srgbClr val="0C2B45"/>
                </a:solidFill>
                <a:latin typeface="Calibri"/>
              </a:rPr>
              <a:t>REHNUMA  ·  رہنما</a:t>
            </a:r>
          </a:p>
        </p:txBody>
      </p:sp>
      <p:sp>
        <p:nvSpPr>
          <p:cNvPr id="5" name="TextBox 4"/>
          <p:cNvSpPr txBox="1"/>
          <p:nvPr/>
        </p:nvSpPr>
        <p:spPr>
          <a:xfrm>
            <a:off x="777240" y="566928"/>
            <a:ext cx="4480560" cy="237744"/>
          </a:xfrm>
          <a:prstGeom prst="rect">
            <a:avLst/>
          </a:prstGeom>
          <a:noFill/>
        </p:spPr>
        <p:txBody>
          <a:bodyPr wrap="square" lIns="0" rIns="0" tIns="0" bIns="0" anchor="t">
            <a:spAutoFit/>
          </a:bodyPr>
          <a:lstStyle/>
          <a:p>
            <a:pPr algn="l">
              <a:spcAft>
                <a:spcPts val="500"/>
              </a:spcAft>
            </a:pPr>
            <a:r>
              <a:rPr sz="1050" b="1" i="0">
                <a:solidFill>
                  <a:srgbClr val="0070B8"/>
                </a:solidFill>
                <a:latin typeface="Calibri"/>
              </a:rPr>
              <a:t>PROBLEM &amp; EXPERIENCE</a:t>
            </a:r>
          </a:p>
        </p:txBody>
      </p:sp>
      <p:sp>
        <p:nvSpPr>
          <p:cNvPr id="6" name="TextBox 5"/>
          <p:cNvSpPr txBox="1"/>
          <p:nvPr/>
        </p:nvSpPr>
        <p:spPr>
          <a:xfrm>
            <a:off x="777240" y="841248"/>
            <a:ext cx="4480560" cy="731520"/>
          </a:xfrm>
          <a:prstGeom prst="rect">
            <a:avLst/>
          </a:prstGeom>
          <a:noFill/>
        </p:spPr>
        <p:txBody>
          <a:bodyPr wrap="square" lIns="0" rIns="0" tIns="0" bIns="0" anchor="t">
            <a:spAutoFit/>
          </a:bodyPr>
          <a:lstStyle/>
          <a:p>
            <a:pPr algn="l">
              <a:lnSpc>
                <a:spcPct val="95000"/>
              </a:lnSpc>
              <a:spcAft>
                <a:spcPts val="500"/>
              </a:spcAft>
            </a:pPr>
            <a:r>
              <a:rPr sz="3000" b="1" i="0">
                <a:solidFill>
                  <a:srgbClr val="0C2B45"/>
                </a:solidFill>
                <a:latin typeface="Cambria"/>
              </a:rPr>
              <a:t>Nobody ever learned from a quiz</a:t>
            </a:r>
          </a:p>
        </p:txBody>
      </p:sp>
      <p:sp>
        <p:nvSpPr>
          <p:cNvPr id="7" name="TextBox 6"/>
          <p:cNvSpPr txBox="1"/>
          <p:nvPr/>
        </p:nvSpPr>
        <p:spPr>
          <a:xfrm>
            <a:off x="777240" y="1874519"/>
            <a:ext cx="5212080" cy="777240"/>
          </a:xfrm>
          <a:prstGeom prst="rect">
            <a:avLst/>
          </a:prstGeom>
          <a:noFill/>
        </p:spPr>
        <p:txBody>
          <a:bodyPr wrap="square" lIns="0" rIns="0" tIns="0" bIns="0" anchor="t">
            <a:spAutoFit/>
          </a:bodyPr>
          <a:lstStyle/>
          <a:p>
            <a:pPr algn="l">
              <a:lnSpc>
                <a:spcPct val="112000"/>
              </a:lnSpc>
              <a:spcAft>
                <a:spcPts val="500"/>
              </a:spcAft>
            </a:pPr>
            <a:r>
              <a:rPr sz="1550" b="0" i="0">
                <a:solidFill>
                  <a:srgbClr val="0F5885"/>
                </a:solidFill>
                <a:latin typeface="Cambria"/>
              </a:rPr>
              <a:t>Rehnuma turns any document into a story you watch, then a game you play, in English or Urdu. It works out what you understand from how you talk — and never gives a test.</a:t>
            </a:r>
          </a:p>
        </p:txBody>
      </p:sp>
      <p:sp>
        <p:nvSpPr>
          <p:cNvPr id="8" name="TextBox 7"/>
          <p:cNvSpPr txBox="1"/>
          <p:nvPr/>
        </p:nvSpPr>
        <p:spPr>
          <a:xfrm>
            <a:off x="777240" y="3054096"/>
            <a:ext cx="457200" cy="548640"/>
          </a:xfrm>
          <a:prstGeom prst="rect">
            <a:avLst/>
          </a:prstGeom>
          <a:noFill/>
        </p:spPr>
        <p:txBody>
          <a:bodyPr wrap="square" lIns="0" rIns="0" tIns="0" bIns="0" anchor="t">
            <a:spAutoFit/>
          </a:bodyPr>
          <a:lstStyle/>
          <a:p>
            <a:pPr algn="l">
              <a:spcAft>
                <a:spcPts val="500"/>
              </a:spcAft>
            </a:pPr>
            <a:r>
              <a:rPr sz="2600" b="1" i="0">
                <a:solidFill>
                  <a:srgbClr val="E6E7E8"/>
                </a:solidFill>
                <a:latin typeface="Cambria"/>
              </a:rPr>
              <a:t>1</a:t>
            </a:r>
          </a:p>
        </p:txBody>
      </p:sp>
      <p:sp>
        <p:nvSpPr>
          <p:cNvPr id="9" name="TextBox 8"/>
          <p:cNvSpPr txBox="1"/>
          <p:nvPr/>
        </p:nvSpPr>
        <p:spPr>
          <a:xfrm>
            <a:off x="1307592" y="3108960"/>
            <a:ext cx="4617720" cy="731520"/>
          </a:xfrm>
          <a:prstGeom prst="rect">
            <a:avLst/>
          </a:prstGeom>
          <a:noFill/>
        </p:spPr>
        <p:txBody>
          <a:bodyPr wrap="square" lIns="0" rIns="0" tIns="0" bIns="0" anchor="t">
            <a:spAutoFit/>
          </a:bodyPr>
          <a:lstStyle/>
          <a:p>
            <a:pPr algn="l">
              <a:spcAft>
                <a:spcPts val="200"/>
              </a:spcAft>
            </a:pPr>
            <a:r>
              <a:rPr sz="1450" b="1" i="0">
                <a:solidFill>
                  <a:srgbClr val="0C2B45"/>
                </a:solidFill>
                <a:latin typeface="Cambria"/>
              </a:rPr>
              <a:t>Bring anything</a:t>
            </a:r>
          </a:p>
          <a:p>
            <a:pPr algn="l">
              <a:spcAft>
                <a:spcPts val="0"/>
              </a:spcAft>
            </a:pPr>
            <a:r>
              <a:rPr sz="1150" b="0" i="0">
                <a:solidFill>
                  <a:srgbClr val="6B6E72"/>
                </a:solidFill>
                <a:latin typeface="Calibri"/>
              </a:rPr>
              <a:t>PDF, Word, PowerPoint, spreadsheet, web link or pasted text.</a:t>
            </a:r>
          </a:p>
        </p:txBody>
      </p:sp>
      <p:sp>
        <p:nvSpPr>
          <p:cNvPr id="10" name="TextBox 9"/>
          <p:cNvSpPr txBox="1"/>
          <p:nvPr/>
        </p:nvSpPr>
        <p:spPr>
          <a:xfrm>
            <a:off x="777240" y="3813048"/>
            <a:ext cx="457200" cy="548640"/>
          </a:xfrm>
          <a:prstGeom prst="rect">
            <a:avLst/>
          </a:prstGeom>
          <a:noFill/>
        </p:spPr>
        <p:txBody>
          <a:bodyPr wrap="square" lIns="0" rIns="0" tIns="0" bIns="0" anchor="t">
            <a:spAutoFit/>
          </a:bodyPr>
          <a:lstStyle/>
          <a:p>
            <a:pPr algn="l">
              <a:spcAft>
                <a:spcPts val="500"/>
              </a:spcAft>
            </a:pPr>
            <a:r>
              <a:rPr sz="2600" b="1" i="0">
                <a:solidFill>
                  <a:srgbClr val="E6E7E8"/>
                </a:solidFill>
                <a:latin typeface="Cambria"/>
              </a:rPr>
              <a:t>2</a:t>
            </a:r>
          </a:p>
        </p:txBody>
      </p:sp>
      <p:sp>
        <p:nvSpPr>
          <p:cNvPr id="11" name="TextBox 10"/>
          <p:cNvSpPr txBox="1"/>
          <p:nvPr/>
        </p:nvSpPr>
        <p:spPr>
          <a:xfrm>
            <a:off x="1307592" y="3867911"/>
            <a:ext cx="4617720" cy="731520"/>
          </a:xfrm>
          <a:prstGeom prst="rect">
            <a:avLst/>
          </a:prstGeom>
          <a:noFill/>
        </p:spPr>
        <p:txBody>
          <a:bodyPr wrap="square" lIns="0" rIns="0" tIns="0" bIns="0" anchor="t">
            <a:spAutoFit/>
          </a:bodyPr>
          <a:lstStyle/>
          <a:p>
            <a:pPr algn="l">
              <a:spcAft>
                <a:spcPts val="200"/>
              </a:spcAft>
            </a:pPr>
            <a:r>
              <a:rPr sz="1450" b="1" i="0">
                <a:solidFill>
                  <a:srgbClr val="0C2B45"/>
                </a:solidFill>
                <a:latin typeface="Cambria"/>
              </a:rPr>
              <a:t>Watch the story</a:t>
            </a:r>
          </a:p>
          <a:p>
            <a:pPr algn="l">
              <a:spcAft>
                <a:spcPts val="0"/>
              </a:spcAft>
            </a:pPr>
            <a:r>
              <a:rPr sz="1150" b="0" i="0">
                <a:solidFill>
                  <a:srgbClr val="6B6E72"/>
                </a:solidFill>
                <a:latin typeface="Calibri"/>
              </a:rPr>
              <a:t>An illustrated road-trip through the ideas, drawn from your own document.</a:t>
            </a:r>
          </a:p>
        </p:txBody>
      </p:sp>
      <p:sp>
        <p:nvSpPr>
          <p:cNvPr id="12" name="TextBox 11"/>
          <p:cNvSpPr txBox="1"/>
          <p:nvPr/>
        </p:nvSpPr>
        <p:spPr>
          <a:xfrm>
            <a:off x="777240" y="4572000"/>
            <a:ext cx="457200" cy="548640"/>
          </a:xfrm>
          <a:prstGeom prst="rect">
            <a:avLst/>
          </a:prstGeom>
          <a:noFill/>
        </p:spPr>
        <p:txBody>
          <a:bodyPr wrap="square" lIns="0" rIns="0" tIns="0" bIns="0" anchor="t">
            <a:spAutoFit/>
          </a:bodyPr>
          <a:lstStyle/>
          <a:p>
            <a:pPr algn="l">
              <a:spcAft>
                <a:spcPts val="500"/>
              </a:spcAft>
            </a:pPr>
            <a:r>
              <a:rPr sz="2600" b="1" i="0">
                <a:solidFill>
                  <a:srgbClr val="E6E7E8"/>
                </a:solidFill>
                <a:latin typeface="Cambria"/>
              </a:rPr>
              <a:t>3</a:t>
            </a:r>
          </a:p>
        </p:txBody>
      </p:sp>
      <p:sp>
        <p:nvSpPr>
          <p:cNvPr id="13" name="TextBox 12"/>
          <p:cNvSpPr txBox="1"/>
          <p:nvPr/>
        </p:nvSpPr>
        <p:spPr>
          <a:xfrm>
            <a:off x="1307592" y="4626864"/>
            <a:ext cx="4617720" cy="731520"/>
          </a:xfrm>
          <a:prstGeom prst="rect">
            <a:avLst/>
          </a:prstGeom>
          <a:noFill/>
        </p:spPr>
        <p:txBody>
          <a:bodyPr wrap="square" lIns="0" rIns="0" tIns="0" bIns="0" anchor="t">
            <a:spAutoFit/>
          </a:bodyPr>
          <a:lstStyle/>
          <a:p>
            <a:pPr algn="l">
              <a:spcAft>
                <a:spcPts val="200"/>
              </a:spcAft>
            </a:pPr>
            <a:r>
              <a:rPr sz="1450" b="1" i="0">
                <a:solidFill>
                  <a:srgbClr val="0C2B45"/>
                </a:solidFill>
                <a:latin typeface="Cambria"/>
              </a:rPr>
              <a:t>Play it</a:t>
            </a:r>
          </a:p>
          <a:p>
            <a:pPr algn="l">
              <a:spcAft>
                <a:spcPts val="0"/>
              </a:spcAft>
            </a:pPr>
            <a:r>
              <a:rPr sz="1150" b="0" i="0">
                <a:solidFill>
                  <a:srgbClr val="6B6E72"/>
                </a:solidFill>
                <a:latin typeface="Calibri"/>
              </a:rPr>
              <a:t>Missions and choices with consequences. Speak or type, Urdu or English.</a:t>
            </a:r>
          </a:p>
        </p:txBody>
      </p:sp>
      <p:sp>
        <p:nvSpPr>
          <p:cNvPr id="14" name="TextBox 13"/>
          <p:cNvSpPr txBox="1"/>
          <p:nvPr/>
        </p:nvSpPr>
        <p:spPr>
          <a:xfrm>
            <a:off x="777240" y="5330952"/>
            <a:ext cx="457200" cy="548640"/>
          </a:xfrm>
          <a:prstGeom prst="rect">
            <a:avLst/>
          </a:prstGeom>
          <a:noFill/>
        </p:spPr>
        <p:txBody>
          <a:bodyPr wrap="square" lIns="0" rIns="0" tIns="0" bIns="0" anchor="t">
            <a:spAutoFit/>
          </a:bodyPr>
          <a:lstStyle/>
          <a:p>
            <a:pPr algn="l">
              <a:spcAft>
                <a:spcPts val="500"/>
              </a:spcAft>
            </a:pPr>
            <a:r>
              <a:rPr sz="2600" b="1" i="0">
                <a:solidFill>
                  <a:srgbClr val="E6E7E8"/>
                </a:solidFill>
                <a:latin typeface="Cambria"/>
              </a:rPr>
              <a:t>4</a:t>
            </a:r>
          </a:p>
        </p:txBody>
      </p:sp>
      <p:sp>
        <p:nvSpPr>
          <p:cNvPr id="15" name="TextBox 14"/>
          <p:cNvSpPr txBox="1"/>
          <p:nvPr/>
        </p:nvSpPr>
        <p:spPr>
          <a:xfrm>
            <a:off x="1307592" y="5385816"/>
            <a:ext cx="4617720" cy="731520"/>
          </a:xfrm>
          <a:prstGeom prst="rect">
            <a:avLst/>
          </a:prstGeom>
          <a:noFill/>
        </p:spPr>
        <p:txBody>
          <a:bodyPr wrap="square" lIns="0" rIns="0" tIns="0" bIns="0" anchor="t">
            <a:spAutoFit/>
          </a:bodyPr>
          <a:lstStyle/>
          <a:p>
            <a:pPr algn="l">
              <a:spcAft>
                <a:spcPts val="200"/>
              </a:spcAft>
            </a:pPr>
            <a:r>
              <a:rPr sz="1450" b="1" i="0">
                <a:solidFill>
                  <a:srgbClr val="0C2B45"/>
                </a:solidFill>
                <a:latin typeface="Cambria"/>
              </a:rPr>
              <a:t>See progress</a:t>
            </a:r>
          </a:p>
          <a:p>
            <a:pPr algn="l">
              <a:spcAft>
                <a:spcPts val="0"/>
              </a:spcAft>
            </a:pPr>
            <a:r>
              <a:rPr sz="1150" b="0" i="0">
                <a:solidFill>
                  <a:srgbClr val="6B6E72"/>
                </a:solidFill>
                <a:latin typeface="Calibri"/>
              </a:rPr>
              <a:t>Concepts unlock as understanding grows. No pass mark anywhere.</a:t>
            </a:r>
          </a:p>
        </p:txBody>
      </p:sp>
      <p:sp>
        <p:nvSpPr>
          <p:cNvPr id="16" name="Rectangle 15"/>
          <p:cNvSpPr/>
          <p:nvPr/>
        </p:nvSpPr>
        <p:spPr>
          <a:xfrm>
            <a:off x="6144768" y="932688"/>
            <a:ext cx="5285231" cy="2996946"/>
          </a:xfrm>
          <a:prstGeom prst="rect">
            <a:avLst/>
          </a:prstGeom>
          <a:solidFill>
            <a:srgbClr val="FFFFFF"/>
          </a:solidFill>
          <a:ln w="12700">
            <a:solidFill>
              <a:srgbClr val="E6E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tory_pie.png"/>
          <p:cNvPicPr>
            <a:picLocks noChangeAspect="1"/>
          </p:cNvPicPr>
          <p:nvPr/>
        </p:nvPicPr>
        <p:blipFill>
          <a:blip r:embed="rId4"/>
          <a:stretch>
            <a:fillRect/>
          </a:stretch>
        </p:blipFill>
        <p:spPr>
          <a:xfrm>
            <a:off x="6172200" y="960120"/>
            <a:ext cx="5230368" cy="2942082"/>
          </a:xfrm>
          <a:prstGeom prst="rect">
            <a:avLst/>
          </a:prstGeom>
        </p:spPr>
      </p:pic>
      <p:sp>
        <p:nvSpPr>
          <p:cNvPr id="18" name="Rectangle 17"/>
          <p:cNvSpPr/>
          <p:nvPr/>
        </p:nvSpPr>
        <p:spPr>
          <a:xfrm>
            <a:off x="6144768" y="4057650"/>
            <a:ext cx="2596896" cy="1643634"/>
          </a:xfrm>
          <a:prstGeom prst="rect">
            <a:avLst/>
          </a:prstGeom>
          <a:solidFill>
            <a:srgbClr val="FFFFFF"/>
          </a:solidFill>
          <a:ln w="12700">
            <a:solidFill>
              <a:srgbClr val="E6E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earn_top.png"/>
          <p:cNvPicPr>
            <a:picLocks noChangeAspect="1"/>
          </p:cNvPicPr>
          <p:nvPr/>
        </p:nvPicPr>
        <p:blipFill>
          <a:blip r:embed="rId5"/>
          <a:stretch>
            <a:fillRect/>
          </a:stretch>
        </p:blipFill>
        <p:spPr>
          <a:xfrm>
            <a:off x="6172200" y="4085082"/>
            <a:ext cx="2542032" cy="1588770"/>
          </a:xfrm>
          <a:prstGeom prst="rect">
            <a:avLst/>
          </a:prstGeom>
        </p:spPr>
      </p:pic>
      <p:sp>
        <p:nvSpPr>
          <p:cNvPr id="20" name="Rectangle 19"/>
          <p:cNvSpPr/>
          <p:nvPr/>
        </p:nvSpPr>
        <p:spPr>
          <a:xfrm>
            <a:off x="8833104" y="4057650"/>
            <a:ext cx="2596896" cy="1643634"/>
          </a:xfrm>
          <a:prstGeom prst="rect">
            <a:avLst/>
          </a:prstGeom>
          <a:solidFill>
            <a:srgbClr val="FFFFFF"/>
          </a:solidFill>
          <a:ln w="12700">
            <a:solidFill>
              <a:srgbClr val="E6E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earn_urdu_top.png"/>
          <p:cNvPicPr>
            <a:picLocks noChangeAspect="1"/>
          </p:cNvPicPr>
          <p:nvPr/>
        </p:nvPicPr>
        <p:blipFill>
          <a:blip r:embed="rId6"/>
          <a:stretch>
            <a:fillRect/>
          </a:stretch>
        </p:blipFill>
        <p:spPr>
          <a:xfrm>
            <a:off x="8860536" y="4085082"/>
            <a:ext cx="2542032" cy="1588770"/>
          </a:xfrm>
          <a:prstGeom prst="rect">
            <a:avLst/>
          </a:prstGeom>
        </p:spPr>
      </p:pic>
      <p:sp>
        <p:nvSpPr>
          <p:cNvPr id="22" name="TextBox 21"/>
          <p:cNvSpPr txBox="1"/>
          <p:nvPr/>
        </p:nvSpPr>
        <p:spPr>
          <a:xfrm>
            <a:off x="6172200" y="5758434"/>
            <a:ext cx="5230368" cy="457200"/>
          </a:xfrm>
          <a:prstGeom prst="rect">
            <a:avLst/>
          </a:prstGeom>
          <a:noFill/>
        </p:spPr>
        <p:txBody>
          <a:bodyPr wrap="square" lIns="0" rIns="0" tIns="0" bIns="0" anchor="t">
            <a:spAutoFit/>
          </a:bodyPr>
          <a:lstStyle/>
          <a:p>
            <a:pPr algn="l">
              <a:spcAft>
                <a:spcPts val="500"/>
              </a:spcAft>
            </a:pPr>
            <a:r>
              <a:rPr sz="900" b="0" i="0">
                <a:solidFill>
                  <a:srgbClr val="6B6E72"/>
                </a:solidFill>
                <a:latin typeface="Calibri"/>
              </a:rPr>
              <a:t>Above: a story scene, its chart drawn from the document’s own figures. Below: the game, and the same in Urdu, right-to-left.</a:t>
            </a:r>
          </a:p>
        </p:txBody>
      </p:sp>
      <p:sp>
        <p:nvSpPr>
          <p:cNvPr id="23" name="TextBox 22"/>
          <p:cNvSpPr txBox="1"/>
          <p:nvPr/>
        </p:nvSpPr>
        <p:spPr>
          <a:xfrm>
            <a:off x="777240" y="6419088"/>
            <a:ext cx="8686800" cy="237744"/>
          </a:xfrm>
          <a:prstGeom prst="rect">
            <a:avLst/>
          </a:prstGeom>
          <a:noFill/>
        </p:spPr>
        <p:txBody>
          <a:bodyPr wrap="square" lIns="0" rIns="0" tIns="0" bIns="0" anchor="t">
            <a:spAutoFit/>
          </a:bodyPr>
          <a:lstStyle/>
          <a:p>
            <a:pPr algn="l">
              <a:spcAft>
                <a:spcPts val="500"/>
              </a:spcAft>
            </a:pPr>
            <a:r>
              <a:rPr sz="850" b="0" i="0">
                <a:solidFill>
                  <a:srgbClr val="6B6E72"/>
                </a:solidFill>
                <a:latin typeface="Calibri"/>
              </a:rPr>
              <a:t>Ayesha Faheem  ·  Digital HR &amp; AI Manager assignment  ·  prototype for assessment, not an official UBL service</a:t>
            </a:r>
          </a:p>
        </p:txBody>
      </p:sp>
      <p:sp>
        <p:nvSpPr>
          <p:cNvPr id="24" name="TextBox 23"/>
          <p:cNvSpPr txBox="1"/>
          <p:nvPr/>
        </p:nvSpPr>
        <p:spPr>
          <a:xfrm>
            <a:off x="10058400" y="6419088"/>
            <a:ext cx="1353312" cy="237744"/>
          </a:xfrm>
          <a:prstGeom prst="rect">
            <a:avLst/>
          </a:prstGeom>
          <a:noFill/>
        </p:spPr>
        <p:txBody>
          <a:bodyPr wrap="square" lIns="0" rIns="0" tIns="0" bIns="0" anchor="t">
            <a:spAutoFit/>
          </a:bodyPr>
          <a:lstStyle/>
          <a:p>
            <a:pPr algn="r">
              <a:spcAft>
                <a:spcPts val="500"/>
              </a:spcAft>
            </a:pPr>
            <a:r>
              <a:rPr sz="850" b="0" i="0">
                <a:solidFill>
                  <a:srgbClr val="6B6E72"/>
                </a:solidFill>
                <a:latin typeface="Calibri"/>
              </a:rPr>
              <a:t>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37744"/>
          </a:xfrm>
          <a:prstGeom prst="rect">
            <a:avLst/>
          </a:prstGeom>
          <a:noFill/>
        </p:spPr>
        <p:txBody>
          <a:bodyPr wrap="square" lIns="0" rIns="0" tIns="0" bIns="0" anchor="t">
            <a:spAutoFit/>
          </a:bodyPr>
          <a:lstStyle/>
          <a:p>
            <a:pPr algn="l">
              <a:spcAft>
                <a:spcPts val="500"/>
              </a:spcAft>
            </a:pPr>
            <a:r>
              <a:rPr sz="1050" b="1" i="0">
                <a:solidFill>
                  <a:srgbClr val="0070B8"/>
                </a:solidFill>
                <a:latin typeface="Calibri"/>
              </a:rPr>
              <a:t>ARCHITECTURE</a:t>
            </a:r>
          </a:p>
        </p:txBody>
      </p:sp>
      <p:sp>
        <p:nvSpPr>
          <p:cNvPr id="4" name="TextBox 3"/>
          <p:cNvSpPr txBox="1"/>
          <p:nvPr/>
        </p:nvSpPr>
        <p:spPr>
          <a:xfrm>
            <a:off x="777240" y="841248"/>
            <a:ext cx="10637215" cy="731520"/>
          </a:xfrm>
          <a:prstGeom prst="rect">
            <a:avLst/>
          </a:prstGeom>
          <a:noFill/>
        </p:spPr>
        <p:txBody>
          <a:bodyPr wrap="square" lIns="0" rIns="0" tIns="0" bIns="0" anchor="t">
            <a:spAutoFit/>
          </a:bodyPr>
          <a:lstStyle/>
          <a:p>
            <a:pPr algn="l">
              <a:lnSpc>
                <a:spcPct val="95000"/>
              </a:lnSpc>
              <a:spcAft>
                <a:spcPts val="500"/>
              </a:spcAft>
            </a:pPr>
            <a:r>
              <a:rPr sz="3400" b="1" i="0">
                <a:solidFill>
                  <a:srgbClr val="0C2B45"/>
                </a:solidFill>
                <a:latin typeface="Cambria"/>
              </a:rPr>
              <a:t>One service, three trust boundaries</a:t>
            </a:r>
          </a:p>
        </p:txBody>
      </p:sp>
      <p:sp>
        <p:nvSpPr>
          <p:cNvPr id="5" name="TextBox 4"/>
          <p:cNvSpPr txBox="1"/>
          <p:nvPr/>
        </p:nvSpPr>
        <p:spPr>
          <a:xfrm>
            <a:off x="777240" y="1572768"/>
            <a:ext cx="10637215" cy="777240"/>
          </a:xfrm>
          <a:prstGeom prst="rect">
            <a:avLst/>
          </a:prstGeom>
          <a:noFill/>
        </p:spPr>
        <p:txBody>
          <a:bodyPr wrap="square" lIns="0" rIns="0" tIns="0" bIns="0" anchor="t">
            <a:spAutoFit/>
          </a:bodyPr>
          <a:lstStyle/>
          <a:p>
            <a:pPr algn="l">
              <a:lnSpc>
                <a:spcPct val="112000"/>
              </a:lnSpc>
              <a:spcAft>
                <a:spcPts val="500"/>
              </a:spcAft>
            </a:pPr>
            <a:r>
              <a:rPr sz="1550" b="0" i="0">
                <a:solidFill>
                  <a:srgbClr val="0F5885"/>
                </a:solidFill>
                <a:latin typeface="Cambria"/>
              </a:rPr>
              <a:t>It reads a document, proves every idea against it, tells the story, then holds the conversation — and keeps its own arithmetic for what you have understood.</a:t>
            </a:r>
          </a:p>
        </p:txBody>
      </p:sp>
      <p:sp>
        <p:nvSpPr>
          <p:cNvPr id="6" name="Rectangle 5"/>
          <p:cNvSpPr/>
          <p:nvPr/>
        </p:nvSpPr>
        <p:spPr>
          <a:xfrm>
            <a:off x="777240" y="2788920"/>
            <a:ext cx="2057400" cy="1600200"/>
          </a:xfrm>
          <a:prstGeom prst="rect">
            <a:avLst/>
          </a:prstGeom>
          <a:solidFill>
            <a:srgbClr val="FFFFFF"/>
          </a:solidFill>
          <a:ln w="12700">
            <a:solidFill>
              <a:srgbClr val="E6E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871215"/>
            <a:ext cx="1837943" cy="1472184"/>
          </a:xfrm>
          <a:prstGeom prst="rect">
            <a:avLst/>
          </a:prstGeom>
          <a:noFill/>
        </p:spPr>
        <p:txBody>
          <a:bodyPr wrap="square" lIns="0" rIns="0" tIns="0" bIns="0" anchor="t">
            <a:spAutoFit/>
          </a:bodyPr>
          <a:lstStyle/>
          <a:p>
            <a:pPr algn="l">
              <a:spcAft>
                <a:spcPts val="300"/>
              </a:spcAft>
            </a:pPr>
            <a:r>
              <a:rPr sz="1150" b="1" i="0">
                <a:solidFill>
                  <a:srgbClr val="0C2B45"/>
                </a:solidFill>
                <a:latin typeface="Cambria"/>
              </a:rPr>
              <a:t>Learner’s browser</a:t>
            </a:r>
          </a:p>
          <a:p>
            <a:pPr algn="l">
              <a:spcAft>
                <a:spcPts val="150"/>
              </a:spcAft>
            </a:pPr>
            <a:r>
              <a:rPr sz="950" b="0" i="0">
                <a:solidFill>
                  <a:srgbClr val="6B6E72"/>
                </a:solidFill>
                <a:latin typeface="Calibri"/>
              </a:rPr>
              <a:t>Story stage: SVG scenes, zooming camera</a:t>
            </a:r>
          </a:p>
          <a:p>
            <a:pPr algn="l">
              <a:spcAft>
                <a:spcPts val="150"/>
              </a:spcAft>
            </a:pPr>
            <a:r>
              <a:rPr sz="950" b="0" i="0">
                <a:solidFill>
                  <a:srgbClr val="6B6E72"/>
                </a:solidFill>
                <a:latin typeface="Calibri"/>
              </a:rPr>
              <a:t>Voice in and out, Urdu and English</a:t>
            </a:r>
          </a:p>
          <a:p>
            <a:pPr algn="l">
              <a:spcAft>
                <a:spcPts val="150"/>
              </a:spcAft>
            </a:pPr>
            <a:r>
              <a:rPr sz="950" b="0" i="0">
                <a:solidFill>
                  <a:srgbClr val="6B6E72"/>
                </a:solidFill>
                <a:latin typeface="Calibri"/>
              </a:rPr>
              <a:t>Streamed replies</a:t>
            </a:r>
          </a:p>
          <a:p>
            <a:pPr algn="l">
              <a:spcAft>
                <a:spcPts val="150"/>
              </a:spcAft>
            </a:pPr>
            <a:r>
              <a:rPr sz="950" b="0" i="0">
                <a:solidFill>
                  <a:srgbClr val="6B6E72"/>
                </a:solidFill>
                <a:latin typeface="Calibri"/>
              </a:rPr>
              <a:t>Language, level, limits: live</a:t>
            </a:r>
          </a:p>
        </p:txBody>
      </p:sp>
      <p:sp>
        <p:nvSpPr>
          <p:cNvPr id="8" name="Rectangle 7"/>
          <p:cNvSpPr/>
          <p:nvPr/>
        </p:nvSpPr>
        <p:spPr>
          <a:xfrm>
            <a:off x="4069080" y="2377440"/>
            <a:ext cx="4297680" cy="3063240"/>
          </a:xfrm>
          <a:prstGeom prst="rect">
            <a:avLst/>
          </a:prstGeom>
          <a:solidFill>
            <a:srgbClr val="F4F7FA"/>
          </a:solidFill>
          <a:ln w="12700">
            <a:solidFill>
              <a:srgbClr val="50A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78808" y="2432304"/>
            <a:ext cx="4114800" cy="274320"/>
          </a:xfrm>
          <a:prstGeom prst="rect">
            <a:avLst/>
          </a:prstGeom>
          <a:noFill/>
        </p:spPr>
        <p:txBody>
          <a:bodyPr wrap="square" lIns="0" rIns="0" tIns="0" bIns="0" anchor="t">
            <a:spAutoFit/>
          </a:bodyPr>
          <a:lstStyle/>
          <a:p>
            <a:pPr algn="l">
              <a:spcAft>
                <a:spcPts val="500"/>
              </a:spcAft>
            </a:pPr>
            <a:r>
              <a:rPr sz="1150" b="1" i="0">
                <a:solidFill>
                  <a:srgbClr val="0F5885"/>
                </a:solidFill>
                <a:latin typeface="Cambria"/>
              </a:rPr>
              <a:t>Rehnuma service  ·  FastAPI on one free Render instance</a:t>
            </a:r>
          </a:p>
        </p:txBody>
      </p:sp>
      <p:sp>
        <p:nvSpPr>
          <p:cNvPr id="10" name="Rectangle 9"/>
          <p:cNvSpPr/>
          <p:nvPr/>
        </p:nvSpPr>
        <p:spPr>
          <a:xfrm>
            <a:off x="4178808" y="2816352"/>
            <a:ext cx="1298448" cy="1033271"/>
          </a:xfrm>
          <a:prstGeom prst="rect">
            <a:avLst/>
          </a:prstGeom>
          <a:solidFill>
            <a:srgbClr val="FFFFFF"/>
          </a:solidFill>
          <a:ln w="12700">
            <a:solidFill>
              <a:srgbClr val="E6E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88536" y="2898648"/>
            <a:ext cx="1078992" cy="905255"/>
          </a:xfrm>
          <a:prstGeom prst="rect">
            <a:avLst/>
          </a:prstGeom>
          <a:noFill/>
        </p:spPr>
        <p:txBody>
          <a:bodyPr wrap="square" lIns="0" rIns="0" tIns="0" bIns="0" anchor="t">
            <a:spAutoFit/>
          </a:bodyPr>
          <a:lstStyle/>
          <a:p>
            <a:pPr algn="l">
              <a:spcAft>
                <a:spcPts val="300"/>
              </a:spcAft>
            </a:pPr>
            <a:r>
              <a:rPr sz="1100" b="1" i="0">
                <a:solidFill>
                  <a:srgbClr val="0C2B45"/>
                </a:solidFill>
                <a:latin typeface="Cambria"/>
              </a:rPr>
              <a:t>Ingest</a:t>
            </a:r>
          </a:p>
          <a:p>
            <a:pPr algn="l">
              <a:spcAft>
                <a:spcPts val="150"/>
              </a:spcAft>
            </a:pPr>
            <a:r>
              <a:rPr sz="850" b="0" i="0">
                <a:solidFill>
                  <a:srgbClr val="6B6E72"/>
                </a:solidFill>
                <a:latin typeface="Calibri"/>
              </a:rPr>
              <a:t>PDF · Word · PPT · CSV · link · text</a:t>
            </a:r>
          </a:p>
        </p:txBody>
      </p:sp>
      <p:sp>
        <p:nvSpPr>
          <p:cNvPr id="12" name="Rectangle 11"/>
          <p:cNvSpPr/>
          <p:nvPr/>
        </p:nvSpPr>
        <p:spPr>
          <a:xfrm>
            <a:off x="5568696" y="2816352"/>
            <a:ext cx="1298448" cy="1033271"/>
          </a:xfrm>
          <a:prstGeom prst="rect">
            <a:avLst/>
          </a:prstGeom>
          <a:solidFill>
            <a:srgbClr val="0070B8"/>
          </a:solidFill>
          <a:ln w="12700">
            <a:solidFill>
              <a:srgbClr val="0070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78424" y="2898648"/>
            <a:ext cx="1078992" cy="905255"/>
          </a:xfrm>
          <a:prstGeom prst="rect">
            <a:avLst/>
          </a:prstGeom>
          <a:noFill/>
        </p:spPr>
        <p:txBody>
          <a:bodyPr wrap="square" lIns="0" rIns="0" tIns="0" bIns="0" anchor="t">
            <a:spAutoFit/>
          </a:bodyPr>
          <a:lstStyle/>
          <a:p>
            <a:pPr algn="l">
              <a:spcAft>
                <a:spcPts val="300"/>
              </a:spcAft>
            </a:pPr>
            <a:r>
              <a:rPr sz="1100" b="1" i="0">
                <a:solidFill>
                  <a:srgbClr val="FFFFFF"/>
                </a:solidFill>
                <a:latin typeface="Cambria"/>
              </a:rPr>
              <a:t>Ground</a:t>
            </a:r>
          </a:p>
          <a:p>
            <a:pPr algn="l">
              <a:spcAft>
                <a:spcPts val="150"/>
              </a:spcAft>
            </a:pPr>
            <a:r>
              <a:rPr sz="850" b="0" i="0">
                <a:solidFill>
                  <a:srgbClr val="FFFFFF"/>
                </a:solidFill>
                <a:latin typeface="Calibri"/>
              </a:rPr>
              <a:t>every quote checked against the upload</a:t>
            </a:r>
          </a:p>
        </p:txBody>
      </p:sp>
      <p:sp>
        <p:nvSpPr>
          <p:cNvPr id="14" name="Rectangle 13"/>
          <p:cNvSpPr/>
          <p:nvPr/>
        </p:nvSpPr>
        <p:spPr>
          <a:xfrm>
            <a:off x="6958584" y="2816352"/>
            <a:ext cx="1298448" cy="1033271"/>
          </a:xfrm>
          <a:prstGeom prst="rect">
            <a:avLst/>
          </a:prstGeom>
          <a:solidFill>
            <a:srgbClr val="FFFFFF"/>
          </a:solidFill>
          <a:ln w="12700">
            <a:solidFill>
              <a:srgbClr val="E6E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8312" y="2898648"/>
            <a:ext cx="1078992" cy="905255"/>
          </a:xfrm>
          <a:prstGeom prst="rect">
            <a:avLst/>
          </a:prstGeom>
          <a:noFill/>
        </p:spPr>
        <p:txBody>
          <a:bodyPr wrap="square" lIns="0" rIns="0" tIns="0" bIns="0" anchor="t">
            <a:spAutoFit/>
          </a:bodyPr>
          <a:lstStyle/>
          <a:p>
            <a:pPr algn="l">
              <a:spcAft>
                <a:spcPts val="300"/>
              </a:spcAft>
            </a:pPr>
            <a:r>
              <a:rPr sz="1100" b="1" i="0">
                <a:solidFill>
                  <a:srgbClr val="0C2B45"/>
                </a:solidFill>
                <a:latin typeface="Cambria"/>
              </a:rPr>
              <a:t>Concept map</a:t>
            </a:r>
          </a:p>
          <a:p>
            <a:pPr algn="l">
              <a:spcAft>
                <a:spcPts val="150"/>
              </a:spcAft>
            </a:pPr>
            <a:r>
              <a:rPr sz="850" b="0" i="0">
                <a:solidFill>
                  <a:srgbClr val="6B6E72"/>
                </a:solidFill>
                <a:latin typeface="Calibri"/>
              </a:rPr>
              <a:t>ideas with their source lines</a:t>
            </a:r>
          </a:p>
        </p:txBody>
      </p:sp>
      <p:sp>
        <p:nvSpPr>
          <p:cNvPr id="16" name="Rectangle 15"/>
          <p:cNvSpPr/>
          <p:nvPr/>
        </p:nvSpPr>
        <p:spPr>
          <a:xfrm>
            <a:off x="4178808" y="3977639"/>
            <a:ext cx="1298448" cy="1033271"/>
          </a:xfrm>
          <a:prstGeom prst="rect">
            <a:avLst/>
          </a:prstGeom>
          <a:solidFill>
            <a:srgbClr val="FFFFFF"/>
          </a:solidFill>
          <a:ln w="12700">
            <a:solidFill>
              <a:srgbClr val="E6E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88536" y="4059935"/>
            <a:ext cx="1078992" cy="905255"/>
          </a:xfrm>
          <a:prstGeom prst="rect">
            <a:avLst/>
          </a:prstGeom>
          <a:noFill/>
        </p:spPr>
        <p:txBody>
          <a:bodyPr wrap="square" lIns="0" rIns="0" tIns="0" bIns="0" anchor="t">
            <a:spAutoFit/>
          </a:bodyPr>
          <a:lstStyle/>
          <a:p>
            <a:pPr algn="l">
              <a:spcAft>
                <a:spcPts val="300"/>
              </a:spcAft>
            </a:pPr>
            <a:r>
              <a:rPr sz="1100" b="1" i="0">
                <a:solidFill>
                  <a:srgbClr val="0C2B45"/>
                </a:solidFill>
                <a:latin typeface="Cambria"/>
              </a:rPr>
              <a:t>Story</a:t>
            </a:r>
          </a:p>
          <a:p>
            <a:pPr algn="l">
              <a:spcAft>
                <a:spcPts val="150"/>
              </a:spcAft>
            </a:pPr>
            <a:r>
              <a:rPr sz="850" b="0" i="0">
                <a:solidFill>
                  <a:srgbClr val="6B6E72"/>
                </a:solidFill>
                <a:latin typeface="Calibri"/>
              </a:rPr>
              <a:t>written while the map is read</a:t>
            </a:r>
          </a:p>
        </p:txBody>
      </p:sp>
      <p:sp>
        <p:nvSpPr>
          <p:cNvPr id="18" name="Rectangle 17"/>
          <p:cNvSpPr/>
          <p:nvPr/>
        </p:nvSpPr>
        <p:spPr>
          <a:xfrm>
            <a:off x="5568696" y="3977639"/>
            <a:ext cx="1298448" cy="1033271"/>
          </a:xfrm>
          <a:prstGeom prst="rect">
            <a:avLst/>
          </a:prstGeom>
          <a:solidFill>
            <a:srgbClr val="FFFFFF"/>
          </a:solidFill>
          <a:ln w="12700">
            <a:solidFill>
              <a:srgbClr val="E6E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4059935"/>
            <a:ext cx="1078992" cy="905255"/>
          </a:xfrm>
          <a:prstGeom prst="rect">
            <a:avLst/>
          </a:prstGeom>
          <a:noFill/>
        </p:spPr>
        <p:txBody>
          <a:bodyPr wrap="square" lIns="0" rIns="0" tIns="0" bIns="0" anchor="t">
            <a:spAutoFit/>
          </a:bodyPr>
          <a:lstStyle/>
          <a:p>
            <a:pPr algn="l">
              <a:spcAft>
                <a:spcPts val="300"/>
              </a:spcAft>
            </a:pPr>
            <a:r>
              <a:rPr sz="1100" b="1" i="0">
                <a:solidFill>
                  <a:srgbClr val="0C2B45"/>
                </a:solidFill>
                <a:latin typeface="Cambria"/>
              </a:rPr>
              <a:t>Tutor loop</a:t>
            </a:r>
          </a:p>
          <a:p>
            <a:pPr algn="l">
              <a:spcAft>
                <a:spcPts val="150"/>
              </a:spcAft>
            </a:pPr>
            <a:r>
              <a:rPr sz="850" b="0" i="0">
                <a:solidFill>
                  <a:srgbClr val="6B6E72"/>
                </a:solidFill>
                <a:latin typeface="Calibri"/>
              </a:rPr>
              <a:t>streamed, prompt-cached</a:t>
            </a:r>
          </a:p>
        </p:txBody>
      </p:sp>
      <p:sp>
        <p:nvSpPr>
          <p:cNvPr id="20" name="Rectangle 19"/>
          <p:cNvSpPr/>
          <p:nvPr/>
        </p:nvSpPr>
        <p:spPr>
          <a:xfrm>
            <a:off x="6958584" y="3977639"/>
            <a:ext cx="1298448" cy="1033271"/>
          </a:xfrm>
          <a:prstGeom prst="rect">
            <a:avLst/>
          </a:prstGeom>
          <a:solidFill>
            <a:srgbClr val="FFFFFF"/>
          </a:solidFill>
          <a:ln w="12700">
            <a:solidFill>
              <a:srgbClr val="E6E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68312" y="4059935"/>
            <a:ext cx="1078992" cy="905255"/>
          </a:xfrm>
          <a:prstGeom prst="rect">
            <a:avLst/>
          </a:prstGeom>
          <a:noFill/>
        </p:spPr>
        <p:txBody>
          <a:bodyPr wrap="square" lIns="0" rIns="0" tIns="0" bIns="0" anchor="t">
            <a:spAutoFit/>
          </a:bodyPr>
          <a:lstStyle/>
          <a:p>
            <a:pPr algn="l">
              <a:spcAft>
                <a:spcPts val="300"/>
              </a:spcAft>
            </a:pPr>
            <a:r>
              <a:rPr sz="1100" b="1" i="0">
                <a:solidFill>
                  <a:srgbClr val="0C2B45"/>
                </a:solidFill>
                <a:latin typeface="Cambria"/>
              </a:rPr>
              <a:t>Learner model</a:t>
            </a:r>
          </a:p>
          <a:p>
            <a:pPr algn="l">
              <a:spcAft>
                <a:spcPts val="150"/>
              </a:spcAft>
            </a:pPr>
            <a:r>
              <a:rPr sz="850" b="0" i="0">
                <a:solidFill>
                  <a:srgbClr val="6B6E72"/>
                </a:solidFill>
                <a:latin typeface="Calibri"/>
              </a:rPr>
              <a:t>mastery, unlocks, adaptation: code</a:t>
            </a:r>
          </a:p>
        </p:txBody>
      </p:sp>
      <p:sp>
        <p:nvSpPr>
          <p:cNvPr id="22" name="TextBox 21"/>
          <p:cNvSpPr txBox="1"/>
          <p:nvPr/>
        </p:nvSpPr>
        <p:spPr>
          <a:xfrm>
            <a:off x="4178808" y="5138928"/>
            <a:ext cx="4114800" cy="256032"/>
          </a:xfrm>
          <a:prstGeom prst="rect">
            <a:avLst/>
          </a:prstGeom>
          <a:noFill/>
        </p:spPr>
        <p:txBody>
          <a:bodyPr wrap="square" lIns="0" rIns="0" tIns="0" bIns="0" anchor="t">
            <a:spAutoFit/>
          </a:bodyPr>
          <a:lstStyle/>
          <a:p>
            <a:pPr algn="l">
              <a:spcAft>
                <a:spcPts val="500"/>
              </a:spcAft>
            </a:pPr>
            <a:r>
              <a:rPr sz="900" b="0" i="0">
                <a:solidFill>
                  <a:srgbClr val="6B6E72"/>
                </a:solidFill>
                <a:latin typeface="Calibri"/>
              </a:rPr>
              <a:t>SQLite: the verified map (never the upload), learners, turns, settings, logs</a:t>
            </a:r>
          </a:p>
        </p:txBody>
      </p:sp>
      <p:sp>
        <p:nvSpPr>
          <p:cNvPr id="23" name="Rectangle 22"/>
          <p:cNvSpPr/>
          <p:nvPr/>
        </p:nvSpPr>
        <p:spPr>
          <a:xfrm>
            <a:off x="9692640" y="2788920"/>
            <a:ext cx="1719072" cy="1600200"/>
          </a:xfrm>
          <a:prstGeom prst="rect">
            <a:avLst/>
          </a:prstGeom>
          <a:solidFill>
            <a:srgbClr val="F4F7FA"/>
          </a:solidFill>
          <a:ln w="12700">
            <a:solidFill>
              <a:srgbClr val="50A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02367" y="2871215"/>
            <a:ext cx="1499616" cy="1472184"/>
          </a:xfrm>
          <a:prstGeom prst="rect">
            <a:avLst/>
          </a:prstGeom>
          <a:noFill/>
        </p:spPr>
        <p:txBody>
          <a:bodyPr wrap="square" lIns="0" rIns="0" tIns="0" bIns="0" anchor="t">
            <a:spAutoFit/>
          </a:bodyPr>
          <a:lstStyle/>
          <a:p>
            <a:pPr algn="l">
              <a:spcAft>
                <a:spcPts val="300"/>
              </a:spcAft>
            </a:pPr>
            <a:r>
              <a:rPr sz="1150" b="1" i="0">
                <a:solidFill>
                  <a:srgbClr val="0F5885"/>
                </a:solidFill>
                <a:latin typeface="Cambria"/>
              </a:rPr>
              <a:t>Claude API</a:t>
            </a:r>
          </a:p>
          <a:p>
            <a:pPr algn="l">
              <a:spcAft>
                <a:spcPts val="150"/>
              </a:spcAft>
            </a:pPr>
            <a:r>
              <a:rPr sz="950" b="0" i="0">
                <a:solidFill>
                  <a:srgbClr val="6B6E72"/>
                </a:solidFill>
                <a:latin typeface="Calibri"/>
              </a:rPr>
              <a:t>Opus 5: the tutor (judgement)</a:t>
            </a:r>
          </a:p>
          <a:p>
            <a:pPr algn="l">
              <a:spcAft>
                <a:spcPts val="150"/>
              </a:spcAft>
            </a:pPr>
            <a:r>
              <a:rPr sz="950" b="0" i="0">
                <a:solidFill>
                  <a:srgbClr val="6B6E72"/>
                </a:solidFill>
                <a:latin typeface="Calibri"/>
              </a:rPr>
              <a:t>Sonnet 5: the storyteller (speed)</a:t>
            </a:r>
          </a:p>
          <a:p>
            <a:pPr algn="l">
              <a:spcAft>
                <a:spcPts val="150"/>
              </a:spcAft>
            </a:pPr>
            <a:r>
              <a:rPr sz="950" b="0" i="0">
                <a:solidFill>
                  <a:srgbClr val="6B6E72"/>
                </a:solidFill>
                <a:latin typeface="Calibri"/>
              </a:rPr>
              <a:t>Offline engine if it fails</a:t>
            </a:r>
          </a:p>
        </p:txBody>
      </p:sp>
      <p:sp>
        <p:nvSpPr>
          <p:cNvPr id="25" name="Rectangle 24"/>
          <p:cNvSpPr/>
          <p:nvPr/>
        </p:nvSpPr>
        <p:spPr>
          <a:xfrm>
            <a:off x="4069080" y="5623560"/>
            <a:ext cx="4297680" cy="621792"/>
          </a:xfrm>
          <a:prstGeom prst="rect">
            <a:avLst/>
          </a:prstGeom>
          <a:solidFill>
            <a:srgbClr val="FFFFFF"/>
          </a:solidFill>
          <a:ln w="12700">
            <a:solidFill>
              <a:srgbClr val="E6E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8808" y="5705856"/>
            <a:ext cx="4078224" cy="493776"/>
          </a:xfrm>
          <a:prstGeom prst="rect">
            <a:avLst/>
          </a:prstGeom>
          <a:noFill/>
        </p:spPr>
        <p:txBody>
          <a:bodyPr wrap="square" lIns="0" rIns="0" tIns="0" bIns="0" anchor="t">
            <a:spAutoFit/>
          </a:bodyPr>
          <a:lstStyle/>
          <a:p>
            <a:pPr algn="l">
              <a:spcAft>
                <a:spcPts val="300"/>
              </a:spcAft>
            </a:pPr>
            <a:r>
              <a:rPr sz="1100" b="1" i="0">
                <a:solidFill>
                  <a:srgbClr val="0C2B45"/>
                </a:solidFill>
                <a:latin typeface="Cambria"/>
              </a:rPr>
              <a:t>Admin control room</a:t>
            </a:r>
          </a:p>
          <a:p>
            <a:pPr algn="l">
              <a:spcAft>
                <a:spcPts val="150"/>
              </a:spcAft>
            </a:pPr>
            <a:r>
              <a:rPr sz="900" b="0" i="0">
                <a:solidFill>
                  <a:srgbClr val="6B6E72"/>
                </a:solidFill>
                <a:latin typeface="Calibri"/>
              </a:rPr>
              <a:t>28 settings, live, no redeploy  ·  analytics  ·  exports  ·  logs</a:t>
            </a:r>
          </a:p>
        </p:txBody>
      </p:sp>
      <p:cxnSp>
        <p:nvCxnSpPr>
          <p:cNvPr id="27" name="Connector 26"/>
          <p:cNvCxnSpPr/>
          <p:nvPr/>
        </p:nvCxnSpPr>
        <p:spPr>
          <a:xfrm>
            <a:off x="2834640" y="3584448"/>
            <a:ext cx="1234440" cy="0"/>
          </a:xfrm>
          <a:prstGeom prst="line">
            <a:avLst/>
          </a:prstGeom>
          <a:ln w="22225">
            <a:solidFill>
              <a:srgbClr val="0070B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857500" y="3648456"/>
            <a:ext cx="1188720" cy="365760"/>
          </a:xfrm>
          <a:prstGeom prst="rect">
            <a:avLst/>
          </a:prstGeom>
          <a:noFill/>
        </p:spPr>
        <p:txBody>
          <a:bodyPr wrap="square" lIns="0" rIns="0" tIns="0" bIns="0" anchor="t">
            <a:spAutoFit/>
          </a:bodyPr>
          <a:lstStyle/>
          <a:p>
            <a:pPr algn="ctr">
              <a:spcAft>
                <a:spcPts val="0"/>
              </a:spcAft>
            </a:pPr>
            <a:r>
              <a:rPr sz="850" b="0" i="0">
                <a:solidFill>
                  <a:srgbClr val="0F5885"/>
                </a:solidFill>
                <a:latin typeface="Calibri"/>
              </a:rPr>
              <a:t>upload +</a:t>
            </a:r>
          </a:p>
          <a:p>
            <a:pPr algn="ctr">
              <a:spcAft>
                <a:spcPts val="0"/>
              </a:spcAft>
            </a:pPr>
            <a:r>
              <a:rPr sz="850" b="0" i="0">
                <a:solidFill>
                  <a:srgbClr val="0F5885"/>
                </a:solidFill>
                <a:latin typeface="Calibri"/>
              </a:rPr>
              <a:t>SSE stream</a:t>
            </a:r>
          </a:p>
        </p:txBody>
      </p:sp>
      <p:cxnSp>
        <p:nvCxnSpPr>
          <p:cNvPr id="29" name="Connector 28"/>
          <p:cNvCxnSpPr/>
          <p:nvPr/>
        </p:nvCxnSpPr>
        <p:spPr>
          <a:xfrm>
            <a:off x="8366760" y="3584448"/>
            <a:ext cx="1325880" cy="0"/>
          </a:xfrm>
          <a:prstGeom prst="line">
            <a:avLst/>
          </a:prstGeom>
          <a:ln w="22225">
            <a:solidFill>
              <a:srgbClr val="0070B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389620" y="3648456"/>
            <a:ext cx="1280160" cy="365760"/>
          </a:xfrm>
          <a:prstGeom prst="rect">
            <a:avLst/>
          </a:prstGeom>
          <a:noFill/>
        </p:spPr>
        <p:txBody>
          <a:bodyPr wrap="square" lIns="0" rIns="0" tIns="0" bIns="0" anchor="t">
            <a:spAutoFit/>
          </a:bodyPr>
          <a:lstStyle/>
          <a:p>
            <a:pPr algn="ctr">
              <a:spcAft>
                <a:spcPts val="0"/>
              </a:spcAft>
            </a:pPr>
            <a:r>
              <a:rPr sz="850" b="0" i="0">
                <a:solidFill>
                  <a:srgbClr val="0F5885"/>
                </a:solidFill>
                <a:latin typeface="Calibri"/>
              </a:rPr>
              <a:t>cached prompt +</a:t>
            </a:r>
          </a:p>
          <a:p>
            <a:pPr algn="ctr">
              <a:spcAft>
                <a:spcPts val="0"/>
              </a:spcAft>
            </a:pPr>
            <a:r>
              <a:rPr sz="850" b="0" i="0">
                <a:solidFill>
                  <a:srgbClr val="0F5885"/>
                </a:solidFill>
                <a:latin typeface="Calibri"/>
              </a:rPr>
              <a:t>structured JSON</a:t>
            </a:r>
          </a:p>
        </p:txBody>
      </p:sp>
      <p:cxnSp>
        <p:nvCxnSpPr>
          <p:cNvPr id="31" name="Connector 30"/>
          <p:cNvCxnSpPr/>
          <p:nvPr/>
        </p:nvCxnSpPr>
        <p:spPr>
          <a:xfrm flipV="1">
            <a:off x="6217920" y="5458968"/>
            <a:ext cx="0" cy="164592"/>
          </a:xfrm>
          <a:prstGeom prst="line">
            <a:avLst/>
          </a:prstGeom>
          <a:ln w="22225">
            <a:solidFill>
              <a:srgbClr val="0070B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 y="4709160"/>
            <a:ext cx="3017520" cy="822960"/>
          </a:xfrm>
          <a:prstGeom prst="rect">
            <a:avLst/>
          </a:prstGeom>
          <a:noFill/>
        </p:spPr>
        <p:txBody>
          <a:bodyPr wrap="square" lIns="0" rIns="0" tIns="0" bIns="0" anchor="t">
            <a:spAutoFit/>
          </a:bodyPr>
          <a:lstStyle/>
          <a:p>
            <a:pPr algn="l">
              <a:spcAft>
                <a:spcPts val="200"/>
              </a:spcAft>
            </a:pPr>
            <a:r>
              <a:rPr sz="1000" b="1" i="0">
                <a:solidFill>
                  <a:srgbClr val="0C2B45"/>
                </a:solidFill>
                <a:latin typeface="Calibri"/>
              </a:rPr>
              <a:t>Why one service</a:t>
            </a:r>
          </a:p>
          <a:p>
            <a:pPr algn="l">
              <a:spcAft>
                <a:spcPts val="0"/>
              </a:spcAft>
            </a:pPr>
            <a:r>
              <a:rPr sz="900" b="0" i="0">
                <a:solidFill>
                  <a:srgbClr val="6B6E72"/>
                </a:solidFill>
                <a:latin typeface="Calibri"/>
              </a:rPr>
              <a:t>No second deployment, no cross-origin set-up: fewer things to fail in front of a panel, and a one-step deploy to a free tier.</a:t>
            </a:r>
          </a:p>
        </p:txBody>
      </p:sp>
      <p:sp>
        <p:nvSpPr>
          <p:cNvPr id="33" name="TextBox 32"/>
          <p:cNvSpPr txBox="1"/>
          <p:nvPr/>
        </p:nvSpPr>
        <p:spPr>
          <a:xfrm>
            <a:off x="9692640" y="4709160"/>
            <a:ext cx="1719072" cy="1005840"/>
          </a:xfrm>
          <a:prstGeom prst="rect">
            <a:avLst/>
          </a:prstGeom>
          <a:noFill/>
        </p:spPr>
        <p:txBody>
          <a:bodyPr wrap="square" lIns="0" rIns="0" tIns="0" bIns="0" anchor="t">
            <a:spAutoFit/>
          </a:bodyPr>
          <a:lstStyle/>
          <a:p>
            <a:pPr algn="l">
              <a:spcAft>
                <a:spcPts val="200"/>
              </a:spcAft>
            </a:pPr>
            <a:r>
              <a:rPr sz="1000" b="1" i="0">
                <a:solidFill>
                  <a:srgbClr val="0C2B45"/>
                </a:solidFill>
                <a:latin typeface="Calibri"/>
              </a:rPr>
              <a:t>Any content</a:t>
            </a:r>
          </a:p>
          <a:p>
            <a:pPr algn="l">
              <a:spcAft>
                <a:spcPts val="0"/>
              </a:spcAft>
            </a:pPr>
            <a:r>
              <a:rPr sz="900" b="0" i="0">
                <a:solidFill>
                  <a:srgbClr val="6B6E72"/>
                </a:solidFill>
                <a:latin typeface="Calibri"/>
              </a:rPr>
              <a:t>Tested on eight kinds: biology, safety policy, code, history, Urdu, CSV, .docx, .pptx.</a:t>
            </a:r>
          </a:p>
        </p:txBody>
      </p:sp>
      <p:sp>
        <p:nvSpPr>
          <p:cNvPr id="34" name="TextBox 33"/>
          <p:cNvSpPr txBox="1"/>
          <p:nvPr/>
        </p:nvSpPr>
        <p:spPr>
          <a:xfrm>
            <a:off x="777240" y="6419088"/>
            <a:ext cx="8686800" cy="237744"/>
          </a:xfrm>
          <a:prstGeom prst="rect">
            <a:avLst/>
          </a:prstGeom>
          <a:noFill/>
        </p:spPr>
        <p:txBody>
          <a:bodyPr wrap="square" lIns="0" rIns="0" tIns="0" bIns="0" anchor="t">
            <a:spAutoFit/>
          </a:bodyPr>
          <a:lstStyle/>
          <a:p>
            <a:pPr algn="l">
              <a:spcAft>
                <a:spcPts val="500"/>
              </a:spcAft>
            </a:pPr>
            <a:r>
              <a:rPr sz="850" b="0" i="0">
                <a:solidFill>
                  <a:srgbClr val="6B6E72"/>
                </a:solidFill>
                <a:latin typeface="Calibri"/>
              </a:rPr>
              <a:t>Ayesha Faheem  ·  Digital HR &amp; AI Manager assignment  ·  prototype for assessment, not an official UBL service</a:t>
            </a:r>
          </a:p>
        </p:txBody>
      </p:sp>
      <p:sp>
        <p:nvSpPr>
          <p:cNvPr id="35" name="TextBox 34"/>
          <p:cNvSpPr txBox="1"/>
          <p:nvPr/>
        </p:nvSpPr>
        <p:spPr>
          <a:xfrm>
            <a:off x="10058400" y="6419088"/>
            <a:ext cx="1353312" cy="237744"/>
          </a:xfrm>
          <a:prstGeom prst="rect">
            <a:avLst/>
          </a:prstGeom>
          <a:noFill/>
        </p:spPr>
        <p:txBody>
          <a:bodyPr wrap="square" lIns="0" rIns="0" tIns="0" bIns="0" anchor="t">
            <a:spAutoFit/>
          </a:bodyPr>
          <a:lstStyle/>
          <a:p>
            <a:pPr algn="r">
              <a:spcAft>
                <a:spcPts val="500"/>
              </a:spcAft>
            </a:pPr>
            <a:r>
              <a:rPr sz="850" b="0" i="0">
                <a:solidFill>
                  <a:srgbClr val="6B6E72"/>
                </a:solidFill>
                <a:latin typeface="Calibri"/>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37744"/>
          </a:xfrm>
          <a:prstGeom prst="rect">
            <a:avLst/>
          </a:prstGeom>
          <a:noFill/>
        </p:spPr>
        <p:txBody>
          <a:bodyPr wrap="square" lIns="0" rIns="0" tIns="0" bIns="0" anchor="t">
            <a:spAutoFit/>
          </a:bodyPr>
          <a:lstStyle/>
          <a:p>
            <a:pPr algn="l">
              <a:spcAft>
                <a:spcPts val="500"/>
              </a:spcAft>
            </a:pPr>
            <a:r>
              <a:rPr sz="1050" b="1" i="0">
                <a:solidFill>
                  <a:srgbClr val="0070B8"/>
                </a:solidFill>
                <a:latin typeface="Calibri"/>
              </a:rPr>
              <a:t>SECURITY, PRIVACY &amp; RELIABILITY</a:t>
            </a:r>
          </a:p>
        </p:txBody>
      </p:sp>
      <p:sp>
        <p:nvSpPr>
          <p:cNvPr id="4" name="TextBox 3"/>
          <p:cNvSpPr txBox="1"/>
          <p:nvPr/>
        </p:nvSpPr>
        <p:spPr>
          <a:xfrm>
            <a:off x="777240" y="841248"/>
            <a:ext cx="10637215" cy="731520"/>
          </a:xfrm>
          <a:prstGeom prst="rect">
            <a:avLst/>
          </a:prstGeom>
          <a:noFill/>
        </p:spPr>
        <p:txBody>
          <a:bodyPr wrap="square" lIns="0" rIns="0" tIns="0" bIns="0" anchor="t">
            <a:spAutoFit/>
          </a:bodyPr>
          <a:lstStyle/>
          <a:p>
            <a:pPr algn="l">
              <a:lnSpc>
                <a:spcPct val="95000"/>
              </a:lnSpc>
              <a:spcAft>
                <a:spcPts val="500"/>
              </a:spcAft>
            </a:pPr>
            <a:r>
              <a:rPr sz="3400" b="1" i="0">
                <a:solidFill>
                  <a:srgbClr val="0C2B45"/>
                </a:solidFill>
                <a:latin typeface="Cambria"/>
              </a:rPr>
              <a:t>Built for a bank</a:t>
            </a:r>
          </a:p>
        </p:txBody>
      </p:sp>
      <p:sp>
        <p:nvSpPr>
          <p:cNvPr id="5" name="TextBox 4"/>
          <p:cNvSpPr txBox="1"/>
          <p:nvPr/>
        </p:nvSpPr>
        <p:spPr>
          <a:xfrm>
            <a:off x="777240" y="1572768"/>
            <a:ext cx="10637215" cy="777240"/>
          </a:xfrm>
          <a:prstGeom prst="rect">
            <a:avLst/>
          </a:prstGeom>
          <a:noFill/>
        </p:spPr>
        <p:txBody>
          <a:bodyPr wrap="square" lIns="0" rIns="0" tIns="0" bIns="0" anchor="t">
            <a:spAutoFit/>
          </a:bodyPr>
          <a:lstStyle/>
          <a:p>
            <a:pPr algn="l">
              <a:lnSpc>
                <a:spcPct val="112000"/>
              </a:lnSpc>
              <a:spcAft>
                <a:spcPts val="500"/>
              </a:spcAft>
            </a:pPr>
            <a:r>
              <a:rPr sz="1550" b="0" i="0">
                <a:solidFill>
                  <a:srgbClr val="0F5885"/>
                </a:solidFill>
                <a:latin typeface="Cambria"/>
              </a:rPr>
              <a:t>Two risks matter most: a tutor that invents a fact about a financial product, and a document written to hijack it. Everything else is layered around those.</a:t>
            </a:r>
          </a:p>
        </p:txBody>
      </p:sp>
      <p:sp>
        <p:nvSpPr>
          <p:cNvPr id="6" name="Rectangle 5"/>
          <p:cNvSpPr/>
          <p:nvPr/>
        </p:nvSpPr>
        <p:spPr>
          <a:xfrm>
            <a:off x="777240" y="2441448"/>
            <a:ext cx="10637215" cy="9144"/>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487168"/>
            <a:ext cx="2331720" cy="457200"/>
          </a:xfrm>
          <a:prstGeom prst="rect">
            <a:avLst/>
          </a:prstGeom>
          <a:noFill/>
        </p:spPr>
        <p:txBody>
          <a:bodyPr wrap="square" lIns="0" rIns="0" tIns="0" bIns="0" anchor="t">
            <a:spAutoFit/>
          </a:bodyPr>
          <a:lstStyle/>
          <a:p>
            <a:pPr algn="l">
              <a:spcAft>
                <a:spcPts val="500"/>
              </a:spcAft>
            </a:pPr>
            <a:r>
              <a:rPr sz="1150" b="1" i="0">
                <a:solidFill>
                  <a:srgbClr val="0C2B45"/>
                </a:solidFill>
                <a:latin typeface="Cambria"/>
              </a:rPr>
              <a:t>Invented facts</a:t>
            </a:r>
          </a:p>
        </p:txBody>
      </p:sp>
      <p:sp>
        <p:nvSpPr>
          <p:cNvPr id="8" name="TextBox 7"/>
          <p:cNvSpPr txBox="1"/>
          <p:nvPr/>
        </p:nvSpPr>
        <p:spPr>
          <a:xfrm>
            <a:off x="3246120" y="2487168"/>
            <a:ext cx="8168335" cy="502920"/>
          </a:xfrm>
          <a:prstGeom prst="rect">
            <a:avLst/>
          </a:prstGeom>
          <a:noFill/>
        </p:spPr>
        <p:txBody>
          <a:bodyPr wrap="square" lIns="0" rIns="0" tIns="0" bIns="0" anchor="t">
            <a:spAutoFit/>
          </a:bodyPr>
          <a:lstStyle/>
          <a:p>
            <a:pPr algn="l">
              <a:lnSpc>
                <a:spcPct val="100000"/>
              </a:lnSpc>
              <a:spcAft>
                <a:spcPts val="500"/>
              </a:spcAft>
            </a:pPr>
            <a:r>
              <a:rPr sz="1050" b="0" i="0">
                <a:solidFill>
                  <a:srgbClr val="6B6E72"/>
                </a:solidFill>
                <a:latin typeface="Calibri"/>
              </a:rPr>
              <a:t>Every quote is checked against the upload before it is saved; a claim must cite a real quote; off-source questions are refused and flagged. 100% verbatim across all eight content types tested.</a:t>
            </a:r>
          </a:p>
        </p:txBody>
      </p:sp>
      <p:sp>
        <p:nvSpPr>
          <p:cNvPr id="9" name="Rectangle 8"/>
          <p:cNvSpPr/>
          <p:nvPr/>
        </p:nvSpPr>
        <p:spPr>
          <a:xfrm>
            <a:off x="777240" y="2990088"/>
            <a:ext cx="10637215" cy="9144"/>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035808"/>
            <a:ext cx="2331720" cy="457200"/>
          </a:xfrm>
          <a:prstGeom prst="rect">
            <a:avLst/>
          </a:prstGeom>
          <a:noFill/>
        </p:spPr>
        <p:txBody>
          <a:bodyPr wrap="square" lIns="0" rIns="0" tIns="0" bIns="0" anchor="t">
            <a:spAutoFit/>
          </a:bodyPr>
          <a:lstStyle/>
          <a:p>
            <a:pPr algn="l">
              <a:spcAft>
                <a:spcPts val="500"/>
              </a:spcAft>
            </a:pPr>
            <a:r>
              <a:rPr sz="1150" b="1" i="0">
                <a:solidFill>
                  <a:srgbClr val="0C2B45"/>
                </a:solidFill>
                <a:latin typeface="Cambria"/>
              </a:rPr>
              <a:t>Hijacking through content</a:t>
            </a:r>
          </a:p>
        </p:txBody>
      </p:sp>
      <p:sp>
        <p:nvSpPr>
          <p:cNvPr id="11" name="TextBox 10"/>
          <p:cNvSpPr txBox="1"/>
          <p:nvPr/>
        </p:nvSpPr>
        <p:spPr>
          <a:xfrm>
            <a:off x="3246120" y="3035808"/>
            <a:ext cx="8168335" cy="502920"/>
          </a:xfrm>
          <a:prstGeom prst="rect">
            <a:avLst/>
          </a:prstGeom>
          <a:noFill/>
        </p:spPr>
        <p:txBody>
          <a:bodyPr wrap="square" lIns="0" rIns="0" tIns="0" bIns="0" anchor="t">
            <a:spAutoFit/>
          </a:bodyPr>
          <a:lstStyle/>
          <a:p>
            <a:pPr algn="l">
              <a:lnSpc>
                <a:spcPct val="100000"/>
              </a:lnSpc>
              <a:spcAft>
                <a:spcPts val="500"/>
              </a:spcAft>
            </a:pPr>
            <a:r>
              <a:rPr sz="1050" b="0" i="0">
                <a:solidFill>
                  <a:srgbClr val="6B6E72"/>
                </a:solidFill>
                <a:latin typeface="Calibri"/>
              </a:rPr>
              <a:t>Uploaded text and chat messages are marked as data and stripped of our prompt delimiters. The story can only name a layout or icon: it never supplies markup.</a:t>
            </a:r>
          </a:p>
        </p:txBody>
      </p:sp>
      <p:sp>
        <p:nvSpPr>
          <p:cNvPr id="12" name="Rectangle 11"/>
          <p:cNvSpPr/>
          <p:nvPr/>
        </p:nvSpPr>
        <p:spPr>
          <a:xfrm>
            <a:off x="777240" y="3538728"/>
            <a:ext cx="10637215" cy="9144"/>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584448"/>
            <a:ext cx="2331720" cy="457200"/>
          </a:xfrm>
          <a:prstGeom prst="rect">
            <a:avLst/>
          </a:prstGeom>
          <a:noFill/>
        </p:spPr>
        <p:txBody>
          <a:bodyPr wrap="square" lIns="0" rIns="0" tIns="0" bIns="0" anchor="t">
            <a:spAutoFit/>
          </a:bodyPr>
          <a:lstStyle/>
          <a:p>
            <a:pPr algn="l">
              <a:spcAft>
                <a:spcPts val="500"/>
              </a:spcAft>
            </a:pPr>
            <a:r>
              <a:rPr sz="1150" b="1" i="0">
                <a:solidFill>
                  <a:srgbClr val="0C2B45"/>
                </a:solidFill>
                <a:latin typeface="Cambria"/>
              </a:rPr>
              <a:t>Attacks on the server</a:t>
            </a:r>
          </a:p>
        </p:txBody>
      </p:sp>
      <p:sp>
        <p:nvSpPr>
          <p:cNvPr id="14" name="TextBox 13"/>
          <p:cNvSpPr txBox="1"/>
          <p:nvPr/>
        </p:nvSpPr>
        <p:spPr>
          <a:xfrm>
            <a:off x="3246120" y="3584448"/>
            <a:ext cx="8168335" cy="502920"/>
          </a:xfrm>
          <a:prstGeom prst="rect">
            <a:avLst/>
          </a:prstGeom>
          <a:noFill/>
        </p:spPr>
        <p:txBody>
          <a:bodyPr wrap="square" lIns="0" rIns="0" tIns="0" bIns="0" anchor="t">
            <a:spAutoFit/>
          </a:bodyPr>
          <a:lstStyle/>
          <a:p>
            <a:pPr algn="l">
              <a:lnSpc>
                <a:spcPct val="100000"/>
              </a:lnSpc>
              <a:spcAft>
                <a:spcPts val="500"/>
              </a:spcAft>
            </a:pPr>
            <a:r>
              <a:rPr sz="1050" b="0" i="0">
                <a:solidFill>
                  <a:srgbClr val="6B6E72"/>
                </a:solidFill>
                <a:latin typeface="Calibri"/>
              </a:rPr>
              <a:t>Web fetch refuses private networks and redirects to them; file type, size and archive limits; strict CSP with no inline or third-party script; frame, sniff and referrer protection.</a:t>
            </a:r>
          </a:p>
        </p:txBody>
      </p:sp>
      <p:sp>
        <p:nvSpPr>
          <p:cNvPr id="15" name="Rectangle 14"/>
          <p:cNvSpPr/>
          <p:nvPr/>
        </p:nvSpPr>
        <p:spPr>
          <a:xfrm>
            <a:off x="777240" y="4087368"/>
            <a:ext cx="10637215" cy="9144"/>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133087"/>
            <a:ext cx="2331720" cy="457200"/>
          </a:xfrm>
          <a:prstGeom prst="rect">
            <a:avLst/>
          </a:prstGeom>
          <a:noFill/>
        </p:spPr>
        <p:txBody>
          <a:bodyPr wrap="square" lIns="0" rIns="0" tIns="0" bIns="0" anchor="t">
            <a:spAutoFit/>
          </a:bodyPr>
          <a:lstStyle/>
          <a:p>
            <a:pPr algn="l">
              <a:spcAft>
                <a:spcPts val="500"/>
              </a:spcAft>
            </a:pPr>
            <a:r>
              <a:rPr sz="1150" b="1" i="0">
                <a:solidFill>
                  <a:srgbClr val="0C2B45"/>
                </a:solidFill>
                <a:latin typeface="Cambria"/>
              </a:rPr>
              <a:t>Access and abuse</a:t>
            </a:r>
          </a:p>
        </p:txBody>
      </p:sp>
      <p:sp>
        <p:nvSpPr>
          <p:cNvPr id="17" name="TextBox 16"/>
          <p:cNvSpPr txBox="1"/>
          <p:nvPr/>
        </p:nvSpPr>
        <p:spPr>
          <a:xfrm>
            <a:off x="3246120" y="4133087"/>
            <a:ext cx="8168335" cy="502920"/>
          </a:xfrm>
          <a:prstGeom prst="rect">
            <a:avLst/>
          </a:prstGeom>
          <a:noFill/>
        </p:spPr>
        <p:txBody>
          <a:bodyPr wrap="square" lIns="0" rIns="0" tIns="0" bIns="0" anchor="t">
            <a:spAutoFit/>
          </a:bodyPr>
          <a:lstStyle/>
          <a:p>
            <a:pPr algn="l">
              <a:lnSpc>
                <a:spcPct val="100000"/>
              </a:lnSpc>
              <a:spcAft>
                <a:spcPts val="500"/>
              </a:spcAft>
            </a:pPr>
            <a:r>
              <a:rPr sz="1050" b="0" i="0">
                <a:solidFill>
                  <a:srgbClr val="6B6E72"/>
                </a:solidFill>
                <a:latin typeface="Calibri"/>
              </a:rPr>
              <a:t>Admin cookie is signed and expires; no default password in production; per-client rate limits that hold behind the proxy (verified live); a daily spend cap.</a:t>
            </a:r>
          </a:p>
        </p:txBody>
      </p:sp>
      <p:sp>
        <p:nvSpPr>
          <p:cNvPr id="18" name="Rectangle 17"/>
          <p:cNvSpPr/>
          <p:nvPr/>
        </p:nvSpPr>
        <p:spPr>
          <a:xfrm>
            <a:off x="777240" y="4636008"/>
            <a:ext cx="10637215" cy="9144"/>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681728"/>
            <a:ext cx="2331720" cy="457200"/>
          </a:xfrm>
          <a:prstGeom prst="rect">
            <a:avLst/>
          </a:prstGeom>
          <a:noFill/>
        </p:spPr>
        <p:txBody>
          <a:bodyPr wrap="square" lIns="0" rIns="0" tIns="0" bIns="0" anchor="t">
            <a:spAutoFit/>
          </a:bodyPr>
          <a:lstStyle/>
          <a:p>
            <a:pPr algn="l">
              <a:spcAft>
                <a:spcPts val="500"/>
              </a:spcAft>
            </a:pPr>
            <a:r>
              <a:rPr sz="1150" b="1" i="0">
                <a:solidFill>
                  <a:srgbClr val="0C2B45"/>
                </a:solidFill>
                <a:latin typeface="Cambria"/>
              </a:rPr>
              <a:t>Bad settings</a:t>
            </a:r>
          </a:p>
        </p:txBody>
      </p:sp>
      <p:sp>
        <p:nvSpPr>
          <p:cNvPr id="20" name="TextBox 19"/>
          <p:cNvSpPr txBox="1"/>
          <p:nvPr/>
        </p:nvSpPr>
        <p:spPr>
          <a:xfrm>
            <a:off x="3246120" y="4681728"/>
            <a:ext cx="8168335" cy="502920"/>
          </a:xfrm>
          <a:prstGeom prst="rect">
            <a:avLst/>
          </a:prstGeom>
          <a:noFill/>
        </p:spPr>
        <p:txBody>
          <a:bodyPr wrap="square" lIns="0" rIns="0" tIns="0" bIns="0" anchor="t">
            <a:spAutoFit/>
          </a:bodyPr>
          <a:lstStyle/>
          <a:p>
            <a:pPr algn="l">
              <a:lnSpc>
                <a:spcPct val="100000"/>
              </a:lnSpc>
              <a:spcAft>
                <a:spcPts val="500"/>
              </a:spcAft>
            </a:pPr>
            <a:r>
              <a:rPr sz="1050" b="0" i="0">
                <a:solidFill>
                  <a:srgbClr val="6B6E72"/>
                </a:solidFill>
                <a:latin typeface="Calibri"/>
              </a:rPr>
              <a:t>Every setting is validated on the server. A rate limit of −5 used to break every request.</a:t>
            </a:r>
          </a:p>
        </p:txBody>
      </p:sp>
      <p:sp>
        <p:nvSpPr>
          <p:cNvPr id="21" name="Rectangle 20"/>
          <p:cNvSpPr/>
          <p:nvPr/>
        </p:nvSpPr>
        <p:spPr>
          <a:xfrm>
            <a:off x="777240" y="5184648"/>
            <a:ext cx="10637215" cy="9144"/>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230368"/>
            <a:ext cx="2331720" cy="457200"/>
          </a:xfrm>
          <a:prstGeom prst="rect">
            <a:avLst/>
          </a:prstGeom>
          <a:noFill/>
        </p:spPr>
        <p:txBody>
          <a:bodyPr wrap="square" lIns="0" rIns="0" tIns="0" bIns="0" anchor="t">
            <a:spAutoFit/>
          </a:bodyPr>
          <a:lstStyle/>
          <a:p>
            <a:pPr algn="l">
              <a:spcAft>
                <a:spcPts val="500"/>
              </a:spcAft>
            </a:pPr>
            <a:r>
              <a:rPr sz="1150" b="1" i="0">
                <a:solidFill>
                  <a:srgbClr val="0C2B45"/>
                </a:solidFill>
                <a:latin typeface="Cambria"/>
              </a:rPr>
              <a:t>Privacy</a:t>
            </a:r>
          </a:p>
        </p:txBody>
      </p:sp>
      <p:sp>
        <p:nvSpPr>
          <p:cNvPr id="23" name="TextBox 22"/>
          <p:cNvSpPr txBox="1"/>
          <p:nvPr/>
        </p:nvSpPr>
        <p:spPr>
          <a:xfrm>
            <a:off x="3246120" y="5230368"/>
            <a:ext cx="8168335" cy="502920"/>
          </a:xfrm>
          <a:prstGeom prst="rect">
            <a:avLst/>
          </a:prstGeom>
          <a:noFill/>
        </p:spPr>
        <p:txBody>
          <a:bodyPr wrap="square" lIns="0" rIns="0" tIns="0" bIns="0" anchor="t">
            <a:spAutoFit/>
          </a:bodyPr>
          <a:lstStyle/>
          <a:p>
            <a:pPr algn="l">
              <a:lnSpc>
                <a:spcPct val="100000"/>
              </a:lnSpc>
              <a:spcAft>
                <a:spcPts val="500"/>
              </a:spcAft>
            </a:pPr>
            <a:r>
              <a:rPr sz="1050" b="0" i="0">
                <a:solidFill>
                  <a:srgbClr val="6B6E72"/>
                </a:solidFill>
                <a:latin typeface="Calibri"/>
              </a:rPr>
              <a:t>The upload itself is never stored, only the verified map. No personal data: a first-name label and a random ID. Retention purge, and the learner or an admin can erase a session.</a:t>
            </a:r>
          </a:p>
        </p:txBody>
      </p:sp>
      <p:sp>
        <p:nvSpPr>
          <p:cNvPr id="24" name="Rectangle 23"/>
          <p:cNvSpPr/>
          <p:nvPr/>
        </p:nvSpPr>
        <p:spPr>
          <a:xfrm>
            <a:off x="777240" y="5733288"/>
            <a:ext cx="10637215" cy="9144"/>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779008"/>
            <a:ext cx="2331720" cy="457200"/>
          </a:xfrm>
          <a:prstGeom prst="rect">
            <a:avLst/>
          </a:prstGeom>
          <a:noFill/>
        </p:spPr>
        <p:txBody>
          <a:bodyPr wrap="square" lIns="0" rIns="0" tIns="0" bIns="0" anchor="t">
            <a:spAutoFit/>
          </a:bodyPr>
          <a:lstStyle/>
          <a:p>
            <a:pPr algn="l">
              <a:spcAft>
                <a:spcPts val="500"/>
              </a:spcAft>
            </a:pPr>
            <a:r>
              <a:rPr sz="1150" b="1" i="0">
                <a:solidFill>
                  <a:srgbClr val="0C2B45"/>
                </a:solidFill>
                <a:latin typeface="Cambria"/>
              </a:rPr>
              <a:t>Reliable &amp; observable</a:t>
            </a:r>
          </a:p>
        </p:txBody>
      </p:sp>
      <p:sp>
        <p:nvSpPr>
          <p:cNvPr id="26" name="TextBox 25"/>
          <p:cNvSpPr txBox="1"/>
          <p:nvPr/>
        </p:nvSpPr>
        <p:spPr>
          <a:xfrm>
            <a:off x="3246120" y="5779008"/>
            <a:ext cx="8168335" cy="502920"/>
          </a:xfrm>
          <a:prstGeom prst="rect">
            <a:avLst/>
          </a:prstGeom>
          <a:noFill/>
        </p:spPr>
        <p:txBody>
          <a:bodyPr wrap="square" lIns="0" rIns="0" tIns="0" bIns="0" anchor="t">
            <a:spAutoFit/>
          </a:bodyPr>
          <a:lstStyle/>
          <a:p>
            <a:pPr algn="l">
              <a:lnSpc>
                <a:spcPct val="100000"/>
              </a:lnSpc>
              <a:spcAft>
                <a:spcPts val="500"/>
              </a:spcAft>
            </a:pPr>
            <a:r>
              <a:rPr sz="1050" b="0" i="0">
                <a:solidFill>
                  <a:srgbClr val="6B6E72"/>
                </a:solidFill>
                <a:latin typeface="Calibri"/>
              </a:rPr>
              <a:t>Structured logs, /health, an in-app log viewer, per-turn latency and tokens. If the AI service fails, the offline engine takes over and says so.</a:t>
            </a:r>
          </a:p>
        </p:txBody>
      </p:sp>
      <p:sp>
        <p:nvSpPr>
          <p:cNvPr id="27" name="TextBox 26"/>
          <p:cNvSpPr txBox="1"/>
          <p:nvPr/>
        </p:nvSpPr>
        <p:spPr>
          <a:xfrm>
            <a:off x="777240" y="6419088"/>
            <a:ext cx="8686800" cy="237744"/>
          </a:xfrm>
          <a:prstGeom prst="rect">
            <a:avLst/>
          </a:prstGeom>
          <a:noFill/>
        </p:spPr>
        <p:txBody>
          <a:bodyPr wrap="square" lIns="0" rIns="0" tIns="0" bIns="0" anchor="t">
            <a:spAutoFit/>
          </a:bodyPr>
          <a:lstStyle/>
          <a:p>
            <a:pPr algn="l">
              <a:spcAft>
                <a:spcPts val="500"/>
              </a:spcAft>
            </a:pPr>
            <a:r>
              <a:rPr sz="850" b="0" i="0">
                <a:solidFill>
                  <a:srgbClr val="6B6E72"/>
                </a:solidFill>
                <a:latin typeface="Calibri"/>
              </a:rPr>
              <a:t>Ayesha Faheem  ·  Digital HR &amp; AI Manager assignment  ·  prototype for assessment, not an official UBL service</a:t>
            </a:r>
          </a:p>
        </p:txBody>
      </p:sp>
      <p:sp>
        <p:nvSpPr>
          <p:cNvPr id="28" name="TextBox 27"/>
          <p:cNvSpPr txBox="1"/>
          <p:nvPr/>
        </p:nvSpPr>
        <p:spPr>
          <a:xfrm>
            <a:off x="10058400" y="6419088"/>
            <a:ext cx="1353312" cy="237744"/>
          </a:xfrm>
          <a:prstGeom prst="rect">
            <a:avLst/>
          </a:prstGeom>
          <a:noFill/>
        </p:spPr>
        <p:txBody>
          <a:bodyPr wrap="square" lIns="0" rIns="0" tIns="0" bIns="0" anchor="t">
            <a:spAutoFit/>
          </a:bodyPr>
          <a:lstStyle/>
          <a:p>
            <a:pPr algn="r">
              <a:spcAft>
                <a:spcPts val="500"/>
              </a:spcAft>
            </a:pPr>
            <a:r>
              <a:rPr sz="850" b="0" i="0">
                <a:solidFill>
                  <a:srgbClr val="6B6E72"/>
                </a:solidFill>
                <a:latin typeface="Calibri"/>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5486400" cy="237744"/>
          </a:xfrm>
          <a:prstGeom prst="rect">
            <a:avLst/>
          </a:prstGeom>
          <a:noFill/>
        </p:spPr>
        <p:txBody>
          <a:bodyPr wrap="square" lIns="0" rIns="0" tIns="0" bIns="0" anchor="t">
            <a:spAutoFit/>
          </a:bodyPr>
          <a:lstStyle/>
          <a:p>
            <a:pPr algn="l">
              <a:spcAft>
                <a:spcPts val="500"/>
              </a:spcAft>
            </a:pPr>
            <a:r>
              <a:rPr sz="1050" b="1" i="0">
                <a:solidFill>
                  <a:srgbClr val="0070B8"/>
                </a:solidFill>
                <a:latin typeface="Calibri"/>
              </a:rPr>
              <a:t>EFFICIENCY, EFFECTIVENESS &amp; MEASUREMENT</a:t>
            </a:r>
          </a:p>
        </p:txBody>
      </p:sp>
      <p:sp>
        <p:nvSpPr>
          <p:cNvPr id="4" name="TextBox 3"/>
          <p:cNvSpPr txBox="1"/>
          <p:nvPr/>
        </p:nvSpPr>
        <p:spPr>
          <a:xfrm>
            <a:off x="777240" y="841248"/>
            <a:ext cx="5486400" cy="731520"/>
          </a:xfrm>
          <a:prstGeom prst="rect">
            <a:avLst/>
          </a:prstGeom>
          <a:noFill/>
        </p:spPr>
        <p:txBody>
          <a:bodyPr wrap="square" lIns="0" rIns="0" tIns="0" bIns="0" anchor="t">
            <a:spAutoFit/>
          </a:bodyPr>
          <a:lstStyle/>
          <a:p>
            <a:pPr algn="l">
              <a:lnSpc>
                <a:spcPct val="95000"/>
              </a:lnSpc>
              <a:spcAft>
                <a:spcPts val="500"/>
              </a:spcAft>
            </a:pPr>
            <a:r>
              <a:rPr sz="2800" b="1" i="0">
                <a:solidFill>
                  <a:srgbClr val="0C2B45"/>
                </a:solidFill>
                <a:latin typeface="Cambria"/>
              </a:rPr>
              <a:t>Fast, adaptive, measured</a:t>
            </a:r>
          </a:p>
        </p:txBody>
      </p:sp>
      <p:sp>
        <p:nvSpPr>
          <p:cNvPr id="5" name="TextBox 4"/>
          <p:cNvSpPr txBox="1"/>
          <p:nvPr/>
        </p:nvSpPr>
        <p:spPr>
          <a:xfrm>
            <a:off x="777240" y="1572768"/>
            <a:ext cx="5349240" cy="777240"/>
          </a:xfrm>
          <a:prstGeom prst="rect">
            <a:avLst/>
          </a:prstGeom>
          <a:noFill/>
        </p:spPr>
        <p:txBody>
          <a:bodyPr wrap="square" lIns="0" rIns="0" tIns="0" bIns="0" anchor="t">
            <a:spAutoFit/>
          </a:bodyPr>
          <a:lstStyle/>
          <a:p>
            <a:pPr algn="l">
              <a:lnSpc>
                <a:spcPct val="112000"/>
              </a:lnSpc>
              <a:spcAft>
                <a:spcPts val="500"/>
              </a:spcAft>
            </a:pPr>
            <a:r>
              <a:rPr sz="1450" b="0" i="0">
                <a:solidFill>
                  <a:srgbClr val="0F5885"/>
                </a:solidFill>
                <a:latin typeface="Cambria"/>
              </a:rPr>
              <a:t>Streaming and early preparation keep it quick. Adapting on measured evidence, and recording that evidence, is how it learns — and how we know.</a:t>
            </a:r>
          </a:p>
        </p:txBody>
      </p:sp>
      <p:sp>
        <p:nvSpPr>
          <p:cNvPr id="6" name="TextBox 5"/>
          <p:cNvSpPr txBox="1"/>
          <p:nvPr/>
        </p:nvSpPr>
        <p:spPr>
          <a:xfrm>
            <a:off x="777240" y="2542032"/>
            <a:ext cx="5349240" cy="274320"/>
          </a:xfrm>
          <a:prstGeom prst="rect">
            <a:avLst/>
          </a:prstGeom>
          <a:noFill/>
        </p:spPr>
        <p:txBody>
          <a:bodyPr wrap="square" lIns="0" rIns="0" tIns="0" bIns="0" anchor="t">
            <a:spAutoFit/>
          </a:bodyPr>
          <a:lstStyle/>
          <a:p>
            <a:pPr algn="l">
              <a:spcAft>
                <a:spcPts val="500"/>
              </a:spcAft>
            </a:pPr>
            <a:r>
              <a:rPr sz="950" b="1" i="0">
                <a:solidFill>
                  <a:srgbClr val="0070B8"/>
                </a:solidFill>
                <a:latin typeface="Calibri"/>
              </a:rPr>
              <a:t>FAST AND FRUGAL  ·  measured on the live deployment</a:t>
            </a:r>
          </a:p>
        </p:txBody>
      </p:sp>
      <p:sp>
        <p:nvSpPr>
          <p:cNvPr id="7" name="TextBox 6"/>
          <p:cNvSpPr txBox="1"/>
          <p:nvPr/>
        </p:nvSpPr>
        <p:spPr>
          <a:xfrm>
            <a:off x="777240" y="2852928"/>
            <a:ext cx="2606040" cy="640080"/>
          </a:xfrm>
          <a:prstGeom prst="rect">
            <a:avLst/>
          </a:prstGeom>
          <a:noFill/>
        </p:spPr>
        <p:txBody>
          <a:bodyPr wrap="square" lIns="0" rIns="0" tIns="0" bIns="0" anchor="t">
            <a:spAutoFit/>
          </a:bodyPr>
          <a:lstStyle/>
          <a:p>
            <a:pPr algn="l">
              <a:spcAft>
                <a:spcPts val="0"/>
              </a:spcAft>
            </a:pPr>
            <a:r>
              <a:rPr sz="2100" b="1" i="0">
                <a:solidFill>
                  <a:srgbClr val="0C2B45"/>
                </a:solidFill>
                <a:latin typeface="Cambria"/>
              </a:rPr>
              <a:t>~3 s</a:t>
            </a:r>
          </a:p>
          <a:p>
            <a:pPr algn="l">
              <a:spcAft>
                <a:spcPts val="0"/>
              </a:spcAft>
            </a:pPr>
            <a:r>
              <a:rPr sz="1000" b="0" i="0">
                <a:solidFill>
                  <a:srgbClr val="6B6E72"/>
                </a:solidFill>
                <a:latin typeface="Calibri"/>
              </a:rPr>
              <a:t>to the first words of a reply, streamed</a:t>
            </a:r>
          </a:p>
        </p:txBody>
      </p:sp>
      <p:sp>
        <p:nvSpPr>
          <p:cNvPr id="8" name="TextBox 7"/>
          <p:cNvSpPr txBox="1"/>
          <p:nvPr/>
        </p:nvSpPr>
        <p:spPr>
          <a:xfrm>
            <a:off x="3474720" y="2852928"/>
            <a:ext cx="2606040" cy="640080"/>
          </a:xfrm>
          <a:prstGeom prst="rect">
            <a:avLst/>
          </a:prstGeom>
          <a:noFill/>
        </p:spPr>
        <p:txBody>
          <a:bodyPr wrap="square" lIns="0" rIns="0" tIns="0" bIns="0" anchor="t">
            <a:spAutoFit/>
          </a:bodyPr>
          <a:lstStyle/>
          <a:p>
            <a:pPr algn="l">
              <a:spcAft>
                <a:spcPts val="0"/>
              </a:spcAft>
            </a:pPr>
            <a:r>
              <a:rPr sz="2100" b="1" i="0">
                <a:solidFill>
                  <a:srgbClr val="0C2B45"/>
                </a:solidFill>
                <a:latin typeface="Cambria"/>
              </a:rPr>
              <a:t>≤ 12 s</a:t>
            </a:r>
          </a:p>
          <a:p>
            <a:pPr algn="l">
              <a:spcAft>
                <a:spcPts val="0"/>
              </a:spcAft>
            </a:pPr>
            <a:r>
              <a:rPr sz="1000" b="0" i="0">
                <a:solidFill>
                  <a:srgbClr val="6B6E72"/>
                </a:solidFill>
                <a:latin typeface="Calibri"/>
              </a:rPr>
              <a:t>for the story, written while the map is read</a:t>
            </a:r>
          </a:p>
        </p:txBody>
      </p:sp>
      <p:sp>
        <p:nvSpPr>
          <p:cNvPr id="9" name="TextBox 8"/>
          <p:cNvSpPr txBox="1"/>
          <p:nvPr/>
        </p:nvSpPr>
        <p:spPr>
          <a:xfrm>
            <a:off x="777240" y="3566160"/>
            <a:ext cx="2606040" cy="640080"/>
          </a:xfrm>
          <a:prstGeom prst="rect">
            <a:avLst/>
          </a:prstGeom>
          <a:noFill/>
        </p:spPr>
        <p:txBody>
          <a:bodyPr wrap="square" lIns="0" rIns="0" tIns="0" bIns="0" anchor="t">
            <a:spAutoFit/>
          </a:bodyPr>
          <a:lstStyle/>
          <a:p>
            <a:pPr algn="l">
              <a:spcAft>
                <a:spcPts val="0"/>
              </a:spcAft>
            </a:pPr>
            <a:r>
              <a:rPr sz="2100" b="1" i="0">
                <a:solidFill>
                  <a:srgbClr val="0C2B45"/>
                </a:solidFill>
                <a:latin typeface="Cambria"/>
              </a:rPr>
              <a:t>72%</a:t>
            </a:r>
          </a:p>
          <a:p>
            <a:pPr algn="l">
              <a:spcAft>
                <a:spcPts val="0"/>
              </a:spcAft>
            </a:pPr>
            <a:r>
              <a:rPr sz="1000" b="0" i="0">
                <a:solidFill>
                  <a:srgbClr val="6B6E72"/>
                </a:solidFill>
                <a:latin typeface="Calibri"/>
              </a:rPr>
              <a:t>of prompt input served from cache</a:t>
            </a:r>
          </a:p>
        </p:txBody>
      </p:sp>
      <p:sp>
        <p:nvSpPr>
          <p:cNvPr id="10" name="TextBox 9"/>
          <p:cNvSpPr txBox="1"/>
          <p:nvPr/>
        </p:nvSpPr>
        <p:spPr>
          <a:xfrm>
            <a:off x="3474720" y="3566160"/>
            <a:ext cx="2606040" cy="640080"/>
          </a:xfrm>
          <a:prstGeom prst="rect">
            <a:avLst/>
          </a:prstGeom>
          <a:noFill/>
        </p:spPr>
        <p:txBody>
          <a:bodyPr wrap="square" lIns="0" rIns="0" tIns="0" bIns="0" anchor="t">
            <a:spAutoFit/>
          </a:bodyPr>
          <a:lstStyle/>
          <a:p>
            <a:pPr algn="l">
              <a:spcAft>
                <a:spcPts val="0"/>
              </a:spcAft>
            </a:pPr>
            <a:r>
              <a:rPr sz="2100" b="1" i="0">
                <a:solidFill>
                  <a:srgbClr val="0C2B45"/>
                </a:solidFill>
                <a:latin typeface="Cambria"/>
              </a:rPr>
              <a:t>+14%</a:t>
            </a:r>
          </a:p>
          <a:p>
            <a:pPr algn="l">
              <a:spcAft>
                <a:spcPts val="0"/>
              </a:spcAft>
            </a:pPr>
            <a:r>
              <a:rPr sz="1000" b="0" i="0">
                <a:solidFill>
                  <a:srgbClr val="6B6E72"/>
                </a:solidFill>
                <a:latin typeface="Calibri"/>
              </a:rPr>
              <a:t>average mastery gain in the demo sessions</a:t>
            </a:r>
          </a:p>
        </p:txBody>
      </p:sp>
      <p:sp>
        <p:nvSpPr>
          <p:cNvPr id="11" name="TextBox 10"/>
          <p:cNvSpPr txBox="1"/>
          <p:nvPr/>
        </p:nvSpPr>
        <p:spPr>
          <a:xfrm>
            <a:off x="777240" y="4370832"/>
            <a:ext cx="5349240" cy="274320"/>
          </a:xfrm>
          <a:prstGeom prst="rect">
            <a:avLst/>
          </a:prstGeom>
          <a:noFill/>
        </p:spPr>
        <p:txBody>
          <a:bodyPr wrap="square" lIns="0" rIns="0" tIns="0" bIns="0" anchor="t">
            <a:spAutoFit/>
          </a:bodyPr>
          <a:lstStyle/>
          <a:p>
            <a:pPr algn="l">
              <a:spcAft>
                <a:spcPts val="500"/>
              </a:spcAft>
            </a:pPr>
            <a:r>
              <a:rPr sz="950" b="1" i="0">
                <a:solidFill>
                  <a:srgbClr val="0070B8"/>
                </a:solidFill>
                <a:latin typeface="Calibri"/>
              </a:rPr>
              <a:t>ADAPTS FROM MEASURED EVIDENCE, NOT THE MODEL’S MOOD</a:t>
            </a:r>
          </a:p>
        </p:txBody>
      </p:sp>
      <p:sp>
        <p:nvSpPr>
          <p:cNvPr id="12" name="TextBox 11"/>
          <p:cNvSpPr txBox="1"/>
          <p:nvPr/>
        </p:nvSpPr>
        <p:spPr>
          <a:xfrm>
            <a:off x="777240" y="4663440"/>
            <a:ext cx="5349240" cy="1600200"/>
          </a:xfrm>
          <a:prstGeom prst="rect">
            <a:avLst/>
          </a:prstGeom>
          <a:noFill/>
        </p:spPr>
        <p:txBody>
          <a:bodyPr wrap="square" lIns="0" rIns="0" tIns="0" bIns="0" anchor="t">
            <a:spAutoFit/>
          </a:bodyPr>
          <a:lstStyle/>
          <a:p>
            <a:pPr algn="l">
              <a:spcAft>
                <a:spcPts val="500"/>
              </a:spcAft>
            </a:pPr>
            <a:r>
              <a:rPr sz="1050" b="0" i="0">
                <a:solidFill>
                  <a:srgbClr val="6B6E72"/>
                </a:solidFill>
                <a:latin typeface="Calibri"/>
              </a:rPr>
              <a:t>Difficulty, support, pace and the next concept are set in code from hints, streaks and strong answers.</a:t>
            </a:r>
          </a:p>
          <a:p>
            <a:pPr algn="l">
              <a:spcAft>
                <a:spcPts val="500"/>
              </a:spcAft>
            </a:pPr>
            <a:r>
              <a:rPr sz="1050" b="0" i="0">
                <a:solidFill>
                  <a:srgbClr val="6B6E72"/>
                </a:solidFill>
                <a:latin typeface="Calibri"/>
              </a:rPr>
              <a:t>Six behaviours judged every reply, each kept beside the learner’s own words: applied it · corrected themselves · used the vocabulary · asked ahead · leaned on a hint · remembered.</a:t>
            </a:r>
          </a:p>
          <a:p>
            <a:pPr algn="l">
              <a:spcAft>
                <a:spcPts val="500"/>
              </a:spcAft>
            </a:pPr>
            <a:r>
              <a:rPr sz="1050" b="0" i="0">
                <a:solidFill>
                  <a:srgbClr val="6B6E72"/>
                </a:solidFill>
                <a:latin typeface="Calibri"/>
              </a:rPr>
              <a:t>Language, level or a limit like “five minutes, on a phone” can change mid-session; the next reply obeys.</a:t>
            </a:r>
          </a:p>
          <a:p>
            <a:pPr algn="l">
              <a:spcAft>
                <a:spcPts val="0"/>
              </a:spcAft>
            </a:pPr>
            <a:r>
              <a:rPr sz="950" b="0" i="1">
                <a:solidFill>
                  <a:srgbClr val="6B6E72"/>
                </a:solidFill>
                <a:latin typeface="Calibri"/>
              </a:rPr>
              <a:t>Hosting is $0 on Render’s free tier. Honest limits: an idle instance takes ~40 s to wake and free storage resets on redeploy.</a:t>
            </a:r>
          </a:p>
        </p:txBody>
      </p:sp>
      <p:sp>
        <p:nvSpPr>
          <p:cNvPr id="13" name="Rectangle 12"/>
          <p:cNvSpPr/>
          <p:nvPr/>
        </p:nvSpPr>
        <p:spPr>
          <a:xfrm>
            <a:off x="6327648" y="1207008"/>
            <a:ext cx="5129783" cy="3226689"/>
          </a:xfrm>
          <a:prstGeom prst="rect">
            <a:avLst/>
          </a:prstGeom>
          <a:solidFill>
            <a:srgbClr val="FFFFFF"/>
          </a:solidFill>
          <a:ln w="12700">
            <a:solidFill>
              <a:srgbClr val="E6E7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dmin_top.png"/>
          <p:cNvPicPr>
            <a:picLocks noChangeAspect="1"/>
          </p:cNvPicPr>
          <p:nvPr/>
        </p:nvPicPr>
        <p:blipFill>
          <a:blip r:embed="rId3"/>
          <a:stretch>
            <a:fillRect/>
          </a:stretch>
        </p:blipFill>
        <p:spPr>
          <a:xfrm>
            <a:off x="6355080" y="1234440"/>
            <a:ext cx="5074920" cy="3171825"/>
          </a:xfrm>
          <a:prstGeom prst="rect">
            <a:avLst/>
          </a:prstGeom>
        </p:spPr>
      </p:pic>
      <p:sp>
        <p:nvSpPr>
          <p:cNvPr id="15" name="TextBox 14"/>
          <p:cNvSpPr txBox="1"/>
          <p:nvPr/>
        </p:nvSpPr>
        <p:spPr>
          <a:xfrm>
            <a:off x="6355080" y="4534280"/>
            <a:ext cx="5074920" cy="548640"/>
          </a:xfrm>
          <a:prstGeom prst="rect">
            <a:avLst/>
          </a:prstGeom>
          <a:noFill/>
        </p:spPr>
        <p:txBody>
          <a:bodyPr wrap="square" lIns="0" rIns="0" tIns="0" bIns="0" anchor="t">
            <a:spAutoFit/>
          </a:bodyPr>
          <a:lstStyle/>
          <a:p>
            <a:pPr algn="l">
              <a:spcAft>
                <a:spcPts val="500"/>
              </a:spcAft>
            </a:pPr>
            <a:r>
              <a:rPr sz="900" b="0" i="0">
                <a:solidFill>
                  <a:srgbClr val="6B6E72"/>
                </a:solidFill>
                <a:latin typeface="Calibri"/>
              </a:rPr>
              <a:t>The control room, read from three real learner sessions (English, Urdu, mixed): +14% mastery gain, 88% of 8 replies rated helpful, 72% cache hits, 35 of 35 quotes verified.</a:t>
            </a:r>
          </a:p>
        </p:txBody>
      </p:sp>
      <p:sp>
        <p:nvSpPr>
          <p:cNvPr id="16" name="TextBox 15"/>
          <p:cNvSpPr txBox="1"/>
          <p:nvPr/>
        </p:nvSpPr>
        <p:spPr>
          <a:xfrm>
            <a:off x="6355080" y="5120640"/>
            <a:ext cx="5074920" cy="1188720"/>
          </a:xfrm>
          <a:prstGeom prst="rect">
            <a:avLst/>
          </a:prstGeom>
          <a:noFill/>
        </p:spPr>
        <p:txBody>
          <a:bodyPr wrap="square" lIns="0" rIns="0" tIns="0" bIns="0" anchor="t">
            <a:spAutoFit/>
          </a:bodyPr>
          <a:lstStyle/>
          <a:p>
            <a:pPr algn="l">
              <a:spcAft>
                <a:spcPts val="400"/>
              </a:spcAft>
            </a:pPr>
            <a:r>
              <a:rPr sz="950" b="1" i="0">
                <a:solidFill>
                  <a:srgbClr val="0070B8"/>
                </a:solidFill>
                <a:latin typeface="Calibri"/>
              </a:rPr>
              <a:t>WHAT MANAGEMENT SEES</a:t>
            </a:r>
          </a:p>
          <a:p>
            <a:pPr algn="l">
              <a:spcAft>
                <a:spcPts val="0"/>
              </a:spcAft>
            </a:pPr>
            <a:r>
              <a:rPr sz="1000" b="0" i="0">
                <a:solidFill>
                  <a:srgbClr val="6B6E72"/>
                </a:solidFill>
                <a:latin typeface="Calibri"/>
              </a:rPr>
              <a:t>Mastery gain before → after · engagement and story completion · learning curve · where learners struggle · helpfulness · latency · cache hits. Filter by learner, concept, signal or period; export CSV; print a one-page learner report.</a:t>
            </a:r>
          </a:p>
        </p:txBody>
      </p:sp>
      <p:sp>
        <p:nvSpPr>
          <p:cNvPr id="17" name="TextBox 16"/>
          <p:cNvSpPr txBox="1"/>
          <p:nvPr/>
        </p:nvSpPr>
        <p:spPr>
          <a:xfrm>
            <a:off x="777240" y="6419088"/>
            <a:ext cx="8686800" cy="237744"/>
          </a:xfrm>
          <a:prstGeom prst="rect">
            <a:avLst/>
          </a:prstGeom>
          <a:noFill/>
        </p:spPr>
        <p:txBody>
          <a:bodyPr wrap="square" lIns="0" rIns="0" tIns="0" bIns="0" anchor="t">
            <a:spAutoFit/>
          </a:bodyPr>
          <a:lstStyle/>
          <a:p>
            <a:pPr algn="l">
              <a:spcAft>
                <a:spcPts val="500"/>
              </a:spcAft>
            </a:pPr>
            <a:r>
              <a:rPr sz="850" b="0" i="0">
                <a:solidFill>
                  <a:srgbClr val="6B6E72"/>
                </a:solidFill>
                <a:latin typeface="Calibri"/>
              </a:rPr>
              <a:t>Ayesha Faheem  ·  Digital HR &amp; AI Manager assignment  ·  prototype for assessment, not an official UBL service</a:t>
            </a:r>
          </a:p>
        </p:txBody>
      </p:sp>
      <p:sp>
        <p:nvSpPr>
          <p:cNvPr id="18" name="TextBox 17"/>
          <p:cNvSpPr txBox="1"/>
          <p:nvPr/>
        </p:nvSpPr>
        <p:spPr>
          <a:xfrm>
            <a:off x="10058400" y="6419088"/>
            <a:ext cx="1353312" cy="237744"/>
          </a:xfrm>
          <a:prstGeom prst="rect">
            <a:avLst/>
          </a:prstGeom>
          <a:noFill/>
        </p:spPr>
        <p:txBody>
          <a:bodyPr wrap="square" lIns="0" rIns="0" tIns="0" bIns="0" anchor="t">
            <a:spAutoFit/>
          </a:bodyPr>
          <a:lstStyle/>
          <a:p>
            <a:pPr algn="r">
              <a:spcAft>
                <a:spcPts val="500"/>
              </a:spcAft>
            </a:pPr>
            <a:r>
              <a:rPr sz="850" b="0" i="0">
                <a:solidFill>
                  <a:srgbClr val="6B6E72"/>
                </a:solidFill>
                <a:latin typeface="Calibri"/>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37744"/>
          </a:xfrm>
          <a:prstGeom prst="rect">
            <a:avLst/>
          </a:prstGeom>
          <a:noFill/>
        </p:spPr>
        <p:txBody>
          <a:bodyPr wrap="square" lIns="0" rIns="0" tIns="0" bIns="0" anchor="t">
            <a:spAutoFit/>
          </a:bodyPr>
          <a:lstStyle/>
          <a:p>
            <a:pPr algn="l">
              <a:spcAft>
                <a:spcPts val="500"/>
              </a:spcAft>
            </a:pPr>
            <a:r>
              <a:rPr sz="1050" b="1" i="0">
                <a:solidFill>
                  <a:srgbClr val="0070B8"/>
                </a:solidFill>
                <a:latin typeface="Calibri"/>
              </a:rPr>
              <a:t>THE BRIEF, POINT BY POINT</a:t>
            </a:r>
          </a:p>
        </p:txBody>
      </p:sp>
      <p:sp>
        <p:nvSpPr>
          <p:cNvPr id="4" name="TextBox 3"/>
          <p:cNvSpPr txBox="1"/>
          <p:nvPr/>
        </p:nvSpPr>
        <p:spPr>
          <a:xfrm>
            <a:off x="777240" y="841248"/>
            <a:ext cx="10637215" cy="731520"/>
          </a:xfrm>
          <a:prstGeom prst="rect">
            <a:avLst/>
          </a:prstGeom>
          <a:noFill/>
        </p:spPr>
        <p:txBody>
          <a:bodyPr wrap="square" lIns="0" rIns="0" tIns="0" bIns="0" anchor="t">
            <a:spAutoFit/>
          </a:bodyPr>
          <a:lstStyle/>
          <a:p>
            <a:pPr algn="l">
              <a:lnSpc>
                <a:spcPct val="95000"/>
              </a:lnSpc>
              <a:spcAft>
                <a:spcPts val="500"/>
              </a:spcAft>
            </a:pPr>
            <a:r>
              <a:rPr sz="2800" b="1" i="0">
                <a:solidFill>
                  <a:srgbClr val="0C2B45"/>
                </a:solidFill>
                <a:latin typeface="Cambria"/>
              </a:rPr>
              <a:t>How every requirement is covered</a:t>
            </a:r>
          </a:p>
        </p:txBody>
      </p:sp>
      <p:sp>
        <p:nvSpPr>
          <p:cNvPr id="5" name="TextBox 4"/>
          <p:cNvSpPr txBox="1"/>
          <p:nvPr/>
        </p:nvSpPr>
        <p:spPr>
          <a:xfrm>
            <a:off x="777240" y="1371600"/>
            <a:ext cx="10637215" cy="274320"/>
          </a:xfrm>
          <a:prstGeom prst="rect">
            <a:avLst/>
          </a:prstGeom>
          <a:noFill/>
        </p:spPr>
        <p:txBody>
          <a:bodyPr wrap="square" lIns="0" rIns="0" tIns="0" bIns="0" anchor="t">
            <a:spAutoFit/>
          </a:bodyPr>
          <a:lstStyle/>
          <a:p>
            <a:pPr algn="l">
              <a:spcAft>
                <a:spcPts val="500"/>
              </a:spcAft>
            </a:pPr>
            <a:r>
              <a:rPr sz="1150" b="0" i="0">
                <a:solidFill>
                  <a:srgbClr val="0F5885"/>
                </a:solidFill>
                <a:latin typeface="Cambria"/>
              </a:rPr>
              <a:t>The twelve things the brief asks a solution to demonstrate: what covers each one here, and what powers it.</a:t>
            </a:r>
          </a:p>
        </p:txBody>
      </p:sp>
      <p:sp>
        <p:nvSpPr>
          <p:cNvPr id="6" name="TextBox 5"/>
          <p:cNvSpPr txBox="1"/>
          <p:nvPr/>
        </p:nvSpPr>
        <p:spPr>
          <a:xfrm>
            <a:off x="777240" y="1764792"/>
            <a:ext cx="2057400" cy="182880"/>
          </a:xfrm>
          <a:prstGeom prst="rect">
            <a:avLst/>
          </a:prstGeom>
          <a:noFill/>
        </p:spPr>
        <p:txBody>
          <a:bodyPr wrap="square" lIns="0" rIns="0" tIns="0" bIns="0" anchor="t">
            <a:spAutoFit/>
          </a:bodyPr>
          <a:lstStyle/>
          <a:p>
            <a:pPr algn="l">
              <a:spcAft>
                <a:spcPts val="500"/>
              </a:spcAft>
            </a:pPr>
            <a:r>
              <a:rPr sz="850" b="1" i="0">
                <a:solidFill>
                  <a:srgbClr val="0070B8"/>
                </a:solidFill>
                <a:latin typeface="Calibri"/>
              </a:rPr>
              <a:t>REQUIREMENT</a:t>
            </a:r>
          </a:p>
        </p:txBody>
      </p:sp>
      <p:sp>
        <p:nvSpPr>
          <p:cNvPr id="7" name="TextBox 6"/>
          <p:cNvSpPr txBox="1"/>
          <p:nvPr/>
        </p:nvSpPr>
        <p:spPr>
          <a:xfrm>
            <a:off x="2880360" y="1764792"/>
            <a:ext cx="5029200" cy="182880"/>
          </a:xfrm>
          <a:prstGeom prst="rect">
            <a:avLst/>
          </a:prstGeom>
          <a:noFill/>
        </p:spPr>
        <p:txBody>
          <a:bodyPr wrap="square" lIns="0" rIns="0" tIns="0" bIns="0" anchor="t">
            <a:spAutoFit/>
          </a:bodyPr>
          <a:lstStyle/>
          <a:p>
            <a:pPr algn="l">
              <a:spcAft>
                <a:spcPts val="500"/>
              </a:spcAft>
            </a:pPr>
            <a:r>
              <a:rPr sz="850" b="1" i="0">
                <a:solidFill>
                  <a:srgbClr val="0070B8"/>
                </a:solidFill>
                <a:latin typeface="Calibri"/>
              </a:rPr>
              <a:t>HOW IT IS COVERED HERE</a:t>
            </a:r>
          </a:p>
        </p:txBody>
      </p:sp>
      <p:sp>
        <p:nvSpPr>
          <p:cNvPr id="8" name="TextBox 7"/>
          <p:cNvSpPr txBox="1"/>
          <p:nvPr/>
        </p:nvSpPr>
        <p:spPr>
          <a:xfrm>
            <a:off x="8046720" y="1764792"/>
            <a:ext cx="3367735" cy="182880"/>
          </a:xfrm>
          <a:prstGeom prst="rect">
            <a:avLst/>
          </a:prstGeom>
          <a:noFill/>
        </p:spPr>
        <p:txBody>
          <a:bodyPr wrap="square" lIns="0" rIns="0" tIns="0" bIns="0" anchor="t">
            <a:spAutoFit/>
          </a:bodyPr>
          <a:lstStyle/>
          <a:p>
            <a:pPr algn="l">
              <a:spcAft>
                <a:spcPts val="500"/>
              </a:spcAft>
            </a:pPr>
            <a:r>
              <a:rPr sz="850" b="1" i="0">
                <a:solidFill>
                  <a:srgbClr val="0070B8"/>
                </a:solidFill>
                <a:latin typeface="Calibri"/>
              </a:rPr>
              <a:t>TECHNOLOGY</a:t>
            </a:r>
          </a:p>
        </p:txBody>
      </p:sp>
      <p:sp>
        <p:nvSpPr>
          <p:cNvPr id="9" name="Rectangle 8"/>
          <p:cNvSpPr/>
          <p:nvPr/>
        </p:nvSpPr>
        <p:spPr>
          <a:xfrm>
            <a:off x="777240" y="1956816"/>
            <a:ext cx="10637215" cy="7315"/>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84248"/>
            <a:ext cx="2057400" cy="365760"/>
          </a:xfrm>
          <a:prstGeom prst="rect">
            <a:avLst/>
          </a:prstGeom>
          <a:noFill/>
        </p:spPr>
        <p:txBody>
          <a:bodyPr wrap="square" lIns="0" rIns="0" tIns="0" bIns="0" anchor="t">
            <a:spAutoFit/>
          </a:bodyPr>
          <a:lstStyle/>
          <a:p>
            <a:pPr algn="l">
              <a:spcAft>
                <a:spcPts val="500"/>
              </a:spcAft>
            </a:pPr>
            <a:r>
              <a:rPr sz="1000" b="1" i="0">
                <a:solidFill>
                  <a:srgbClr val="0C2B45"/>
                </a:solidFill>
                <a:latin typeface="Cambria"/>
              </a:rPr>
              <a:t>Any content → experience</a:t>
            </a:r>
          </a:p>
        </p:txBody>
      </p:sp>
      <p:sp>
        <p:nvSpPr>
          <p:cNvPr id="11" name="TextBox 10"/>
          <p:cNvSpPr txBox="1"/>
          <p:nvPr/>
        </p:nvSpPr>
        <p:spPr>
          <a:xfrm>
            <a:off x="2880360" y="1984248"/>
            <a:ext cx="5029200" cy="365760"/>
          </a:xfrm>
          <a:prstGeom prst="rect">
            <a:avLst/>
          </a:prstGeom>
          <a:noFill/>
        </p:spPr>
        <p:txBody>
          <a:bodyPr wrap="square" lIns="0" rIns="0" tIns="0" bIns="0" anchor="t">
            <a:spAutoFit/>
          </a:bodyPr>
          <a:lstStyle/>
          <a:p>
            <a:pPr algn="l">
              <a:lnSpc>
                <a:spcPct val="92000"/>
              </a:lnSpc>
              <a:spcAft>
                <a:spcPts val="500"/>
              </a:spcAft>
            </a:pPr>
            <a:r>
              <a:rPr sz="880" b="0" i="0">
                <a:solidFill>
                  <a:srgbClr val="6B6E72"/>
                </a:solidFill>
                <a:latin typeface="Calibri"/>
              </a:rPr>
              <a:t>Any document becomes a verified concept map, an illustrated story, then a game — not a summary or a quiz.</a:t>
            </a:r>
          </a:p>
        </p:txBody>
      </p:sp>
      <p:sp>
        <p:nvSpPr>
          <p:cNvPr id="12" name="TextBox 11"/>
          <p:cNvSpPr txBox="1"/>
          <p:nvPr/>
        </p:nvSpPr>
        <p:spPr>
          <a:xfrm>
            <a:off x="8046720" y="1984248"/>
            <a:ext cx="3367735" cy="365760"/>
          </a:xfrm>
          <a:prstGeom prst="rect">
            <a:avLst/>
          </a:prstGeom>
          <a:noFill/>
        </p:spPr>
        <p:txBody>
          <a:bodyPr wrap="square" lIns="0" rIns="0" tIns="0" bIns="0" anchor="t">
            <a:spAutoFit/>
          </a:bodyPr>
          <a:lstStyle/>
          <a:p>
            <a:pPr algn="l">
              <a:lnSpc>
                <a:spcPct val="92000"/>
              </a:lnSpc>
              <a:spcAft>
                <a:spcPts val="500"/>
              </a:spcAft>
            </a:pPr>
            <a:r>
              <a:rPr sz="850" b="0" i="0">
                <a:solidFill>
                  <a:srgbClr val="0F5885"/>
                </a:solidFill>
                <a:latin typeface="Calibri"/>
              </a:rPr>
              <a:t>PyMuPDF · Word/PowerPoint parsing · CSV→prose · SSRF-guarded fetch · Claude structured outputs</a:t>
            </a:r>
          </a:p>
        </p:txBody>
      </p:sp>
      <p:sp>
        <p:nvSpPr>
          <p:cNvPr id="13" name="Rectangle 12"/>
          <p:cNvSpPr/>
          <p:nvPr/>
        </p:nvSpPr>
        <p:spPr>
          <a:xfrm>
            <a:off x="777240" y="2322576"/>
            <a:ext cx="10637215" cy="7315"/>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350008"/>
            <a:ext cx="2057400" cy="365760"/>
          </a:xfrm>
          <a:prstGeom prst="rect">
            <a:avLst/>
          </a:prstGeom>
          <a:noFill/>
        </p:spPr>
        <p:txBody>
          <a:bodyPr wrap="square" lIns="0" rIns="0" tIns="0" bIns="0" anchor="t">
            <a:spAutoFit/>
          </a:bodyPr>
          <a:lstStyle/>
          <a:p>
            <a:pPr algn="l">
              <a:spcAft>
                <a:spcPts val="500"/>
              </a:spcAft>
            </a:pPr>
            <a:r>
              <a:rPr sz="1000" b="1" i="0">
                <a:solidFill>
                  <a:srgbClr val="0C2B45"/>
                </a:solidFill>
                <a:latin typeface="Cambria"/>
              </a:rPr>
              <a:t>Adaptive personalisation</a:t>
            </a:r>
          </a:p>
        </p:txBody>
      </p:sp>
      <p:sp>
        <p:nvSpPr>
          <p:cNvPr id="15" name="TextBox 14"/>
          <p:cNvSpPr txBox="1"/>
          <p:nvPr/>
        </p:nvSpPr>
        <p:spPr>
          <a:xfrm>
            <a:off x="2880360" y="2350008"/>
            <a:ext cx="5029200" cy="365760"/>
          </a:xfrm>
          <a:prstGeom prst="rect">
            <a:avLst/>
          </a:prstGeom>
          <a:noFill/>
        </p:spPr>
        <p:txBody>
          <a:bodyPr wrap="square" lIns="0" rIns="0" tIns="0" bIns="0" anchor="t">
            <a:spAutoFit/>
          </a:bodyPr>
          <a:lstStyle/>
          <a:p>
            <a:pPr algn="l">
              <a:lnSpc>
                <a:spcPct val="92000"/>
              </a:lnSpc>
              <a:spcAft>
                <a:spcPts val="500"/>
              </a:spcAft>
            </a:pPr>
            <a:r>
              <a:rPr sz="880" b="0" i="0">
                <a:solidFill>
                  <a:srgbClr val="6B6E72"/>
                </a:solidFill>
                <a:latin typeface="Calibri"/>
              </a:rPr>
              <a:t>Difficulty, support, pace and next concept come from measured hints and answers; language, level and limits change live.</a:t>
            </a:r>
          </a:p>
        </p:txBody>
      </p:sp>
      <p:sp>
        <p:nvSpPr>
          <p:cNvPr id="16" name="TextBox 15"/>
          <p:cNvSpPr txBox="1"/>
          <p:nvPr/>
        </p:nvSpPr>
        <p:spPr>
          <a:xfrm>
            <a:off x="8046720" y="2350008"/>
            <a:ext cx="3367735" cy="365760"/>
          </a:xfrm>
          <a:prstGeom prst="rect">
            <a:avLst/>
          </a:prstGeom>
          <a:noFill/>
        </p:spPr>
        <p:txBody>
          <a:bodyPr wrap="square" lIns="0" rIns="0" tIns="0" bIns="0" anchor="t">
            <a:spAutoFit/>
          </a:bodyPr>
          <a:lstStyle/>
          <a:p>
            <a:pPr algn="l">
              <a:lnSpc>
                <a:spcPct val="92000"/>
              </a:lnSpc>
              <a:spcAft>
                <a:spcPts val="500"/>
              </a:spcAft>
            </a:pPr>
            <a:r>
              <a:rPr sz="850" b="0" i="0">
                <a:solidFill>
                  <a:srgbClr val="0F5885"/>
                </a:solidFill>
                <a:latin typeface="Calibri"/>
              </a:rPr>
              <a:t>Deterministic Python learner model · per-learner overrides in SQLite</a:t>
            </a:r>
          </a:p>
        </p:txBody>
      </p:sp>
      <p:sp>
        <p:nvSpPr>
          <p:cNvPr id="17" name="Rectangle 16"/>
          <p:cNvSpPr/>
          <p:nvPr/>
        </p:nvSpPr>
        <p:spPr>
          <a:xfrm>
            <a:off x="777240" y="2688336"/>
            <a:ext cx="10637215" cy="7315"/>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715768"/>
            <a:ext cx="2057400" cy="365760"/>
          </a:xfrm>
          <a:prstGeom prst="rect">
            <a:avLst/>
          </a:prstGeom>
          <a:noFill/>
        </p:spPr>
        <p:txBody>
          <a:bodyPr wrap="square" lIns="0" rIns="0" tIns="0" bIns="0" anchor="t">
            <a:spAutoFit/>
          </a:bodyPr>
          <a:lstStyle/>
          <a:p>
            <a:pPr algn="l">
              <a:spcAft>
                <a:spcPts val="500"/>
              </a:spcAft>
            </a:pPr>
            <a:r>
              <a:rPr sz="1000" b="1" i="0">
                <a:solidFill>
                  <a:srgbClr val="0C2B45"/>
                </a:solidFill>
                <a:latin typeface="Cambria"/>
              </a:rPr>
              <a:t>Gamification &amp; interaction</a:t>
            </a:r>
          </a:p>
        </p:txBody>
      </p:sp>
      <p:sp>
        <p:nvSpPr>
          <p:cNvPr id="19" name="TextBox 18"/>
          <p:cNvSpPr txBox="1"/>
          <p:nvPr/>
        </p:nvSpPr>
        <p:spPr>
          <a:xfrm>
            <a:off x="2880360" y="2715768"/>
            <a:ext cx="5029200" cy="365760"/>
          </a:xfrm>
          <a:prstGeom prst="rect">
            <a:avLst/>
          </a:prstGeom>
          <a:noFill/>
        </p:spPr>
        <p:txBody>
          <a:bodyPr wrap="square" lIns="0" rIns="0" tIns="0" bIns="0" anchor="t">
            <a:spAutoFit/>
          </a:bodyPr>
          <a:lstStyle/>
          <a:p>
            <a:pPr algn="l">
              <a:lnSpc>
                <a:spcPct val="92000"/>
              </a:lnSpc>
              <a:spcAft>
                <a:spcPts val="500"/>
              </a:spcAft>
            </a:pPr>
            <a:r>
              <a:rPr sz="880" b="0" i="0">
                <a:solidFill>
                  <a:srgbClr val="6B6E72"/>
                </a:solidFill>
                <a:latin typeface="Calibri"/>
              </a:rPr>
              <a:t>Story road with a truck, missions, puzzles, boss, choices with consequences, XP, streaks, badges, unlocks.</a:t>
            </a:r>
          </a:p>
        </p:txBody>
      </p:sp>
      <p:sp>
        <p:nvSpPr>
          <p:cNvPr id="20" name="TextBox 19"/>
          <p:cNvSpPr txBox="1"/>
          <p:nvPr/>
        </p:nvSpPr>
        <p:spPr>
          <a:xfrm>
            <a:off x="8046720" y="2715768"/>
            <a:ext cx="3367735" cy="365760"/>
          </a:xfrm>
          <a:prstGeom prst="rect">
            <a:avLst/>
          </a:prstGeom>
          <a:noFill/>
        </p:spPr>
        <p:txBody>
          <a:bodyPr wrap="square" lIns="0" rIns="0" tIns="0" bIns="0" anchor="t">
            <a:spAutoFit/>
          </a:bodyPr>
          <a:lstStyle/>
          <a:p>
            <a:pPr algn="l">
              <a:lnSpc>
                <a:spcPct val="92000"/>
              </a:lnSpc>
              <a:spcAft>
                <a:spcPts val="500"/>
              </a:spcAft>
            </a:pPr>
            <a:r>
              <a:rPr sz="850" b="0" i="0">
                <a:solidFill>
                  <a:srgbClr val="0F5885"/>
                </a:solidFill>
                <a:latin typeface="Calibri"/>
              </a:rPr>
              <a:t>Vanilla-JS SVG scene engine · state machine in code</a:t>
            </a:r>
          </a:p>
        </p:txBody>
      </p:sp>
      <p:sp>
        <p:nvSpPr>
          <p:cNvPr id="21" name="Rectangle 20"/>
          <p:cNvSpPr/>
          <p:nvPr/>
        </p:nvSpPr>
        <p:spPr>
          <a:xfrm>
            <a:off x="777240" y="3054096"/>
            <a:ext cx="10637215" cy="7315"/>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081528"/>
            <a:ext cx="2057400" cy="365760"/>
          </a:xfrm>
          <a:prstGeom prst="rect">
            <a:avLst/>
          </a:prstGeom>
          <a:noFill/>
        </p:spPr>
        <p:txBody>
          <a:bodyPr wrap="square" lIns="0" rIns="0" tIns="0" bIns="0" anchor="t">
            <a:spAutoFit/>
          </a:bodyPr>
          <a:lstStyle/>
          <a:p>
            <a:pPr algn="l">
              <a:spcAft>
                <a:spcPts val="500"/>
              </a:spcAft>
            </a:pPr>
            <a:r>
              <a:rPr sz="1000" b="1" i="0">
                <a:solidFill>
                  <a:srgbClr val="0C2B45"/>
                </a:solidFill>
                <a:latin typeface="Cambria"/>
              </a:rPr>
              <a:t>Assessment without tests</a:t>
            </a:r>
          </a:p>
        </p:txBody>
      </p:sp>
      <p:sp>
        <p:nvSpPr>
          <p:cNvPr id="23" name="TextBox 22"/>
          <p:cNvSpPr txBox="1"/>
          <p:nvPr/>
        </p:nvSpPr>
        <p:spPr>
          <a:xfrm>
            <a:off x="2880360" y="3081528"/>
            <a:ext cx="5029200" cy="365760"/>
          </a:xfrm>
          <a:prstGeom prst="rect">
            <a:avLst/>
          </a:prstGeom>
          <a:noFill/>
        </p:spPr>
        <p:txBody>
          <a:bodyPr wrap="square" lIns="0" rIns="0" tIns="0" bIns="0" anchor="t">
            <a:spAutoFit/>
          </a:bodyPr>
          <a:lstStyle/>
          <a:p>
            <a:pPr algn="l">
              <a:lnSpc>
                <a:spcPct val="92000"/>
              </a:lnSpc>
              <a:spcAft>
                <a:spcPts val="500"/>
              </a:spcAft>
            </a:pPr>
            <a:r>
              <a:rPr sz="880" b="0" i="0">
                <a:solidFill>
                  <a:srgbClr val="6B6E72"/>
                </a:solidFill>
                <a:latin typeface="Calibri"/>
              </a:rPr>
              <a:t>Six behaviours judged each reply with the learner’s own words as evidence; before/after mastery per concept.</a:t>
            </a:r>
          </a:p>
        </p:txBody>
      </p:sp>
      <p:sp>
        <p:nvSpPr>
          <p:cNvPr id="24" name="TextBox 23"/>
          <p:cNvSpPr txBox="1"/>
          <p:nvPr/>
        </p:nvSpPr>
        <p:spPr>
          <a:xfrm>
            <a:off x="8046720" y="3081528"/>
            <a:ext cx="3367735" cy="365760"/>
          </a:xfrm>
          <a:prstGeom prst="rect">
            <a:avLst/>
          </a:prstGeom>
          <a:noFill/>
        </p:spPr>
        <p:txBody>
          <a:bodyPr wrap="square" lIns="0" rIns="0" tIns="0" bIns="0" anchor="t">
            <a:spAutoFit/>
          </a:bodyPr>
          <a:lstStyle/>
          <a:p>
            <a:pPr algn="l">
              <a:lnSpc>
                <a:spcPct val="92000"/>
              </a:lnSpc>
              <a:spcAft>
                <a:spcPts val="500"/>
              </a:spcAft>
            </a:pPr>
            <a:r>
              <a:rPr sz="850" b="0" i="0">
                <a:solidFill>
                  <a:srgbClr val="0F5885"/>
                </a:solidFill>
                <a:latin typeface="Calibri"/>
              </a:rPr>
              <a:t>Claude structured JSON (signals + deltas) · clamped arithmetic in Python</a:t>
            </a:r>
          </a:p>
        </p:txBody>
      </p:sp>
      <p:sp>
        <p:nvSpPr>
          <p:cNvPr id="25" name="Rectangle 24"/>
          <p:cNvSpPr/>
          <p:nvPr/>
        </p:nvSpPr>
        <p:spPr>
          <a:xfrm>
            <a:off x="777240" y="3419856"/>
            <a:ext cx="10637215" cy="7315"/>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447288"/>
            <a:ext cx="2057400" cy="365760"/>
          </a:xfrm>
          <a:prstGeom prst="rect">
            <a:avLst/>
          </a:prstGeom>
          <a:noFill/>
        </p:spPr>
        <p:txBody>
          <a:bodyPr wrap="square" lIns="0" rIns="0" tIns="0" bIns="0" anchor="t">
            <a:spAutoFit/>
          </a:bodyPr>
          <a:lstStyle/>
          <a:p>
            <a:pPr algn="l">
              <a:spcAft>
                <a:spcPts val="500"/>
              </a:spcAft>
            </a:pPr>
            <a:r>
              <a:rPr sz="1000" b="1" i="0">
                <a:solidFill>
                  <a:srgbClr val="0C2B45"/>
                </a:solidFill>
                <a:latin typeface="Cambria"/>
              </a:rPr>
              <a:t>Voice + accessibility</a:t>
            </a:r>
          </a:p>
        </p:txBody>
      </p:sp>
      <p:sp>
        <p:nvSpPr>
          <p:cNvPr id="27" name="TextBox 26"/>
          <p:cNvSpPr txBox="1"/>
          <p:nvPr/>
        </p:nvSpPr>
        <p:spPr>
          <a:xfrm>
            <a:off x="2880360" y="3447288"/>
            <a:ext cx="5029200" cy="365760"/>
          </a:xfrm>
          <a:prstGeom prst="rect">
            <a:avLst/>
          </a:prstGeom>
          <a:noFill/>
        </p:spPr>
        <p:txBody>
          <a:bodyPr wrap="square" lIns="0" rIns="0" tIns="0" bIns="0" anchor="t">
            <a:spAutoFit/>
          </a:bodyPr>
          <a:lstStyle/>
          <a:p>
            <a:pPr algn="l">
              <a:lnSpc>
                <a:spcPct val="92000"/>
              </a:lnSpc>
              <a:spcAft>
                <a:spcPts val="500"/>
              </a:spcAft>
            </a:pPr>
            <a:r>
              <a:rPr sz="880" b="0" i="0">
                <a:solidFill>
                  <a:srgbClr val="6B6E72"/>
                </a:solidFill>
                <a:latin typeface="Calibri"/>
              </a:rPr>
              <a:t>Urdu/English speech in and out, code-switching, right-to-left Nastaliq, talk mode, text fallback, reduced motion, ARIA.</a:t>
            </a:r>
          </a:p>
        </p:txBody>
      </p:sp>
      <p:sp>
        <p:nvSpPr>
          <p:cNvPr id="28" name="TextBox 27"/>
          <p:cNvSpPr txBox="1"/>
          <p:nvPr/>
        </p:nvSpPr>
        <p:spPr>
          <a:xfrm>
            <a:off x="8046720" y="3447288"/>
            <a:ext cx="3367735" cy="365760"/>
          </a:xfrm>
          <a:prstGeom prst="rect">
            <a:avLst/>
          </a:prstGeom>
          <a:noFill/>
        </p:spPr>
        <p:txBody>
          <a:bodyPr wrap="square" lIns="0" rIns="0" tIns="0" bIns="0" anchor="t">
            <a:spAutoFit/>
          </a:bodyPr>
          <a:lstStyle/>
          <a:p>
            <a:pPr algn="l">
              <a:lnSpc>
                <a:spcPct val="92000"/>
              </a:lnSpc>
              <a:spcAft>
                <a:spcPts val="500"/>
              </a:spcAft>
            </a:pPr>
            <a:r>
              <a:rPr sz="850" b="0" i="0">
                <a:solidFill>
                  <a:srgbClr val="0F5885"/>
                </a:solidFill>
                <a:latin typeface="Calibri"/>
              </a:rPr>
              <a:t>Web Speech API · Noto Nastaliq Urdu · CSS/ARIA</a:t>
            </a:r>
          </a:p>
        </p:txBody>
      </p:sp>
      <p:sp>
        <p:nvSpPr>
          <p:cNvPr id="29" name="Rectangle 28"/>
          <p:cNvSpPr/>
          <p:nvPr/>
        </p:nvSpPr>
        <p:spPr>
          <a:xfrm>
            <a:off x="777240" y="3785615"/>
            <a:ext cx="10637215" cy="7315"/>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813048"/>
            <a:ext cx="2057400" cy="365760"/>
          </a:xfrm>
          <a:prstGeom prst="rect">
            <a:avLst/>
          </a:prstGeom>
          <a:noFill/>
        </p:spPr>
        <p:txBody>
          <a:bodyPr wrap="square" lIns="0" rIns="0" tIns="0" bIns="0" anchor="t">
            <a:spAutoFit/>
          </a:bodyPr>
          <a:lstStyle/>
          <a:p>
            <a:pPr algn="l">
              <a:spcAft>
                <a:spcPts val="500"/>
              </a:spcAft>
            </a:pPr>
            <a:r>
              <a:rPr sz="1000" b="1" i="0">
                <a:solidFill>
                  <a:srgbClr val="0C2B45"/>
                </a:solidFill>
                <a:latin typeface="Cambria"/>
              </a:rPr>
              <a:t>Accuracy &amp; grounding</a:t>
            </a:r>
          </a:p>
        </p:txBody>
      </p:sp>
      <p:sp>
        <p:nvSpPr>
          <p:cNvPr id="31" name="TextBox 30"/>
          <p:cNvSpPr txBox="1"/>
          <p:nvPr/>
        </p:nvSpPr>
        <p:spPr>
          <a:xfrm>
            <a:off x="2880360" y="3813048"/>
            <a:ext cx="5029200" cy="365760"/>
          </a:xfrm>
          <a:prstGeom prst="rect">
            <a:avLst/>
          </a:prstGeom>
          <a:noFill/>
        </p:spPr>
        <p:txBody>
          <a:bodyPr wrap="square" lIns="0" rIns="0" tIns="0" bIns="0" anchor="t">
            <a:spAutoFit/>
          </a:bodyPr>
          <a:lstStyle/>
          <a:p>
            <a:pPr algn="l">
              <a:lnSpc>
                <a:spcPct val="92000"/>
              </a:lnSpc>
              <a:spcAft>
                <a:spcPts val="500"/>
              </a:spcAft>
            </a:pPr>
            <a:r>
              <a:rPr sz="880" b="0" i="0">
                <a:solidFill>
                  <a:srgbClr val="6B6E72"/>
                </a:solidFill>
                <a:latin typeface="Calibri"/>
              </a:rPr>
              <a:t>Every quote is checked against the upload; claims cite a real quote; off-source questions are refused and flagged.</a:t>
            </a:r>
          </a:p>
        </p:txBody>
      </p:sp>
      <p:sp>
        <p:nvSpPr>
          <p:cNvPr id="32" name="TextBox 31"/>
          <p:cNvSpPr txBox="1"/>
          <p:nvPr/>
        </p:nvSpPr>
        <p:spPr>
          <a:xfrm>
            <a:off x="8046720" y="3813048"/>
            <a:ext cx="3367735" cy="365760"/>
          </a:xfrm>
          <a:prstGeom prst="rect">
            <a:avLst/>
          </a:prstGeom>
          <a:noFill/>
        </p:spPr>
        <p:txBody>
          <a:bodyPr wrap="square" lIns="0" rIns="0" tIns="0" bIns="0" anchor="t">
            <a:spAutoFit/>
          </a:bodyPr>
          <a:lstStyle/>
          <a:p>
            <a:pPr algn="l">
              <a:lnSpc>
                <a:spcPct val="92000"/>
              </a:lnSpc>
              <a:spcAft>
                <a:spcPts val="500"/>
              </a:spcAft>
            </a:pPr>
            <a:r>
              <a:rPr sz="850" b="0" i="0">
                <a:solidFill>
                  <a:srgbClr val="0F5885"/>
                </a:solidFill>
                <a:latin typeface="Calibri"/>
              </a:rPr>
              <a:t>grounding.py (normalised match + difflib repair) · citation chips</a:t>
            </a:r>
          </a:p>
        </p:txBody>
      </p:sp>
      <p:sp>
        <p:nvSpPr>
          <p:cNvPr id="33" name="Rectangle 32"/>
          <p:cNvSpPr/>
          <p:nvPr/>
        </p:nvSpPr>
        <p:spPr>
          <a:xfrm>
            <a:off x="777240" y="4151376"/>
            <a:ext cx="10637215" cy="7315"/>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178808"/>
            <a:ext cx="2057400" cy="365760"/>
          </a:xfrm>
          <a:prstGeom prst="rect">
            <a:avLst/>
          </a:prstGeom>
          <a:noFill/>
        </p:spPr>
        <p:txBody>
          <a:bodyPr wrap="square" lIns="0" rIns="0" tIns="0" bIns="0" anchor="t">
            <a:spAutoFit/>
          </a:bodyPr>
          <a:lstStyle/>
          <a:p>
            <a:pPr algn="l">
              <a:spcAft>
                <a:spcPts val="500"/>
              </a:spcAft>
            </a:pPr>
            <a:r>
              <a:rPr sz="1000" b="1" i="0">
                <a:solidFill>
                  <a:srgbClr val="0C2B45"/>
                </a:solidFill>
                <a:latin typeface="Cambria"/>
              </a:rPr>
              <a:t>Highly configurable</a:t>
            </a:r>
          </a:p>
        </p:txBody>
      </p:sp>
      <p:sp>
        <p:nvSpPr>
          <p:cNvPr id="35" name="TextBox 34"/>
          <p:cNvSpPr txBox="1"/>
          <p:nvPr/>
        </p:nvSpPr>
        <p:spPr>
          <a:xfrm>
            <a:off x="2880360" y="4178808"/>
            <a:ext cx="5029200" cy="365760"/>
          </a:xfrm>
          <a:prstGeom prst="rect">
            <a:avLst/>
          </a:prstGeom>
          <a:noFill/>
        </p:spPr>
        <p:txBody>
          <a:bodyPr wrap="square" lIns="0" rIns="0" tIns="0" bIns="0" anchor="t">
            <a:spAutoFit/>
          </a:bodyPr>
          <a:lstStyle/>
          <a:p>
            <a:pPr algn="l">
              <a:lnSpc>
                <a:spcPct val="92000"/>
              </a:lnSpc>
              <a:spcAft>
                <a:spcPts val="500"/>
              </a:spcAft>
            </a:pPr>
            <a:r>
              <a:rPr sz="880" b="0" i="0">
                <a:solidFill>
                  <a:srgbClr val="6B6E72"/>
                </a:solidFill>
                <a:latin typeface="Calibri"/>
              </a:rPr>
              <a:t>28 settings — level, language, tone, mechanics, thresholds, custom rules — change live, validated.</a:t>
            </a:r>
          </a:p>
        </p:txBody>
      </p:sp>
      <p:sp>
        <p:nvSpPr>
          <p:cNvPr id="36" name="TextBox 35"/>
          <p:cNvSpPr txBox="1"/>
          <p:nvPr/>
        </p:nvSpPr>
        <p:spPr>
          <a:xfrm>
            <a:off x="8046720" y="4178808"/>
            <a:ext cx="3367735" cy="365760"/>
          </a:xfrm>
          <a:prstGeom prst="rect">
            <a:avLst/>
          </a:prstGeom>
          <a:noFill/>
        </p:spPr>
        <p:txBody>
          <a:bodyPr wrap="square" lIns="0" rIns="0" tIns="0" bIns="0" anchor="t">
            <a:spAutoFit/>
          </a:bodyPr>
          <a:lstStyle/>
          <a:p>
            <a:pPr algn="l">
              <a:lnSpc>
                <a:spcPct val="92000"/>
              </a:lnSpc>
              <a:spcAft>
                <a:spcPts val="500"/>
              </a:spcAft>
            </a:pPr>
            <a:r>
              <a:rPr sz="850" b="0" i="0">
                <a:solidFill>
                  <a:srgbClr val="0F5885"/>
                </a:solidFill>
                <a:latin typeface="Calibri"/>
              </a:rPr>
              <a:t>Config service on SQLite · admin control room · pydantic</a:t>
            </a:r>
          </a:p>
        </p:txBody>
      </p:sp>
      <p:sp>
        <p:nvSpPr>
          <p:cNvPr id="37" name="Rectangle 36"/>
          <p:cNvSpPr/>
          <p:nvPr/>
        </p:nvSpPr>
        <p:spPr>
          <a:xfrm>
            <a:off x="777240" y="4517136"/>
            <a:ext cx="10637215" cy="7315"/>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544568"/>
            <a:ext cx="2057400" cy="365760"/>
          </a:xfrm>
          <a:prstGeom prst="rect">
            <a:avLst/>
          </a:prstGeom>
          <a:noFill/>
        </p:spPr>
        <p:txBody>
          <a:bodyPr wrap="square" lIns="0" rIns="0" tIns="0" bIns="0" anchor="t">
            <a:spAutoFit/>
          </a:bodyPr>
          <a:lstStyle/>
          <a:p>
            <a:pPr algn="l">
              <a:spcAft>
                <a:spcPts val="500"/>
              </a:spcAft>
            </a:pPr>
            <a:r>
              <a:rPr sz="1000" b="1" i="0">
                <a:solidFill>
                  <a:srgbClr val="0C2B45"/>
                </a:solidFill>
                <a:latin typeface="Cambria"/>
              </a:rPr>
              <a:t>Dashboards &amp; reports</a:t>
            </a:r>
          </a:p>
        </p:txBody>
      </p:sp>
      <p:sp>
        <p:nvSpPr>
          <p:cNvPr id="39" name="TextBox 38"/>
          <p:cNvSpPr txBox="1"/>
          <p:nvPr/>
        </p:nvSpPr>
        <p:spPr>
          <a:xfrm>
            <a:off x="2880360" y="4544568"/>
            <a:ext cx="5029200" cy="365760"/>
          </a:xfrm>
          <a:prstGeom prst="rect">
            <a:avLst/>
          </a:prstGeom>
          <a:noFill/>
        </p:spPr>
        <p:txBody>
          <a:bodyPr wrap="square" lIns="0" rIns="0" tIns="0" bIns="0" anchor="t">
            <a:spAutoFit/>
          </a:bodyPr>
          <a:lstStyle/>
          <a:p>
            <a:pPr algn="l">
              <a:lnSpc>
                <a:spcPct val="92000"/>
              </a:lnSpc>
              <a:spcAft>
                <a:spcPts val="500"/>
              </a:spcAft>
            </a:pPr>
            <a:r>
              <a:rPr sz="880" b="0" i="0">
                <a:solidFill>
                  <a:srgbClr val="6B6E72"/>
                </a:solidFill>
                <a:latin typeface="Calibri"/>
              </a:rPr>
              <a:t>Learner, engagement, mastery, usage and outcome views; filters; CSV exports; printable learner report.</a:t>
            </a:r>
          </a:p>
        </p:txBody>
      </p:sp>
      <p:sp>
        <p:nvSpPr>
          <p:cNvPr id="40" name="TextBox 39"/>
          <p:cNvSpPr txBox="1"/>
          <p:nvPr/>
        </p:nvSpPr>
        <p:spPr>
          <a:xfrm>
            <a:off x="8046720" y="4544568"/>
            <a:ext cx="3367735" cy="365760"/>
          </a:xfrm>
          <a:prstGeom prst="rect">
            <a:avLst/>
          </a:prstGeom>
          <a:noFill/>
        </p:spPr>
        <p:txBody>
          <a:bodyPr wrap="square" lIns="0" rIns="0" tIns="0" bIns="0" anchor="t">
            <a:spAutoFit/>
          </a:bodyPr>
          <a:lstStyle/>
          <a:p>
            <a:pPr algn="l">
              <a:lnSpc>
                <a:spcPct val="92000"/>
              </a:lnSpc>
              <a:spcAft>
                <a:spcPts val="500"/>
              </a:spcAft>
            </a:pPr>
            <a:r>
              <a:rPr sz="850" b="0" i="0">
                <a:solidFill>
                  <a:srgbClr val="0F5885"/>
                </a:solidFill>
                <a:latin typeface="Calibri"/>
              </a:rPr>
              <a:t>Chart.js (self-hosted) · FastAPI analytics · CSV/HTML export</a:t>
            </a:r>
          </a:p>
        </p:txBody>
      </p:sp>
      <p:sp>
        <p:nvSpPr>
          <p:cNvPr id="41" name="Rectangle 40"/>
          <p:cNvSpPr/>
          <p:nvPr/>
        </p:nvSpPr>
        <p:spPr>
          <a:xfrm>
            <a:off x="777240" y="4882896"/>
            <a:ext cx="10637215" cy="7315"/>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4910328"/>
            <a:ext cx="2057400" cy="365760"/>
          </a:xfrm>
          <a:prstGeom prst="rect">
            <a:avLst/>
          </a:prstGeom>
          <a:noFill/>
        </p:spPr>
        <p:txBody>
          <a:bodyPr wrap="square" lIns="0" rIns="0" tIns="0" bIns="0" anchor="t">
            <a:spAutoFit/>
          </a:bodyPr>
          <a:lstStyle/>
          <a:p>
            <a:pPr algn="l">
              <a:spcAft>
                <a:spcPts val="500"/>
              </a:spcAft>
            </a:pPr>
            <a:r>
              <a:rPr sz="1000" b="1" i="0">
                <a:solidFill>
                  <a:srgbClr val="0C2B45"/>
                </a:solidFill>
                <a:latin typeface="Cambria"/>
              </a:rPr>
              <a:t>Efficient &amp; effective</a:t>
            </a:r>
          </a:p>
        </p:txBody>
      </p:sp>
      <p:sp>
        <p:nvSpPr>
          <p:cNvPr id="43" name="TextBox 42"/>
          <p:cNvSpPr txBox="1"/>
          <p:nvPr/>
        </p:nvSpPr>
        <p:spPr>
          <a:xfrm>
            <a:off x="2880360" y="4910328"/>
            <a:ext cx="5029200" cy="365760"/>
          </a:xfrm>
          <a:prstGeom prst="rect">
            <a:avLst/>
          </a:prstGeom>
          <a:noFill/>
        </p:spPr>
        <p:txBody>
          <a:bodyPr wrap="square" lIns="0" rIns="0" tIns="0" bIns="0" anchor="t">
            <a:spAutoFit/>
          </a:bodyPr>
          <a:lstStyle/>
          <a:p>
            <a:pPr algn="l">
              <a:lnSpc>
                <a:spcPct val="92000"/>
              </a:lnSpc>
              <a:spcAft>
                <a:spcPts val="500"/>
              </a:spcAft>
            </a:pPr>
            <a:r>
              <a:rPr sz="880" b="0" i="0">
                <a:solidFill>
                  <a:srgbClr val="6B6E72"/>
                </a:solidFill>
                <a:latin typeface="Calibri"/>
              </a:rPr>
              <a:t>First words in ~3 s; story prepared while the map is read; 72% prompt-cache hits; measurable mastery gain.</a:t>
            </a:r>
          </a:p>
        </p:txBody>
      </p:sp>
      <p:sp>
        <p:nvSpPr>
          <p:cNvPr id="44" name="TextBox 43"/>
          <p:cNvSpPr txBox="1"/>
          <p:nvPr/>
        </p:nvSpPr>
        <p:spPr>
          <a:xfrm>
            <a:off x="8046720" y="4910328"/>
            <a:ext cx="3367735" cy="365760"/>
          </a:xfrm>
          <a:prstGeom prst="rect">
            <a:avLst/>
          </a:prstGeom>
          <a:noFill/>
        </p:spPr>
        <p:txBody>
          <a:bodyPr wrap="square" lIns="0" rIns="0" tIns="0" bIns="0" anchor="t">
            <a:spAutoFit/>
          </a:bodyPr>
          <a:lstStyle/>
          <a:p>
            <a:pPr algn="l">
              <a:lnSpc>
                <a:spcPct val="92000"/>
              </a:lnSpc>
              <a:spcAft>
                <a:spcPts val="500"/>
              </a:spcAft>
            </a:pPr>
            <a:r>
              <a:rPr sz="850" b="0" i="0">
                <a:solidFill>
                  <a:srgbClr val="0F5885"/>
                </a:solidFill>
                <a:latin typeface="Calibri"/>
              </a:rPr>
              <a:t>SSE streaming · prompt caching · background threads · Opus/Sonnet right-sizing</a:t>
            </a:r>
          </a:p>
        </p:txBody>
      </p:sp>
      <p:sp>
        <p:nvSpPr>
          <p:cNvPr id="45" name="Rectangle 44"/>
          <p:cNvSpPr/>
          <p:nvPr/>
        </p:nvSpPr>
        <p:spPr>
          <a:xfrm>
            <a:off x="777240" y="5248655"/>
            <a:ext cx="10637215" cy="7315"/>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276088"/>
            <a:ext cx="2057400" cy="365760"/>
          </a:xfrm>
          <a:prstGeom prst="rect">
            <a:avLst/>
          </a:prstGeom>
          <a:noFill/>
        </p:spPr>
        <p:txBody>
          <a:bodyPr wrap="square" lIns="0" rIns="0" tIns="0" bIns="0" anchor="t">
            <a:spAutoFit/>
          </a:bodyPr>
          <a:lstStyle/>
          <a:p>
            <a:pPr algn="l">
              <a:spcAft>
                <a:spcPts val="500"/>
              </a:spcAft>
            </a:pPr>
            <a:r>
              <a:rPr sz="1000" b="1" i="0">
                <a:solidFill>
                  <a:srgbClr val="0C2B45"/>
                </a:solidFill>
                <a:latin typeface="Cambria"/>
              </a:rPr>
              <a:t>Free cloud deployment</a:t>
            </a:r>
          </a:p>
        </p:txBody>
      </p:sp>
      <p:sp>
        <p:nvSpPr>
          <p:cNvPr id="47" name="TextBox 46"/>
          <p:cNvSpPr txBox="1"/>
          <p:nvPr/>
        </p:nvSpPr>
        <p:spPr>
          <a:xfrm>
            <a:off x="2880360" y="5276088"/>
            <a:ext cx="5029200" cy="365760"/>
          </a:xfrm>
          <a:prstGeom prst="rect">
            <a:avLst/>
          </a:prstGeom>
          <a:noFill/>
        </p:spPr>
        <p:txBody>
          <a:bodyPr wrap="square" lIns="0" rIns="0" tIns="0" bIns="0" anchor="t">
            <a:spAutoFit/>
          </a:bodyPr>
          <a:lstStyle/>
          <a:p>
            <a:pPr algn="l">
              <a:lnSpc>
                <a:spcPct val="92000"/>
              </a:lnSpc>
              <a:spcAft>
                <a:spcPts val="500"/>
              </a:spcAft>
            </a:pPr>
            <a:r>
              <a:rPr sz="880" b="0" i="0">
                <a:solidFill>
                  <a:srgbClr val="6B6E72"/>
                </a:solidFill>
                <a:latin typeface="Calibri"/>
              </a:rPr>
              <a:t>One stateless service on a free tier, redeployed from GitHub on every push; scales sideways.</a:t>
            </a:r>
          </a:p>
        </p:txBody>
      </p:sp>
      <p:sp>
        <p:nvSpPr>
          <p:cNvPr id="48" name="TextBox 47"/>
          <p:cNvSpPr txBox="1"/>
          <p:nvPr/>
        </p:nvSpPr>
        <p:spPr>
          <a:xfrm>
            <a:off x="8046720" y="5276088"/>
            <a:ext cx="3367735" cy="365760"/>
          </a:xfrm>
          <a:prstGeom prst="rect">
            <a:avLst/>
          </a:prstGeom>
          <a:noFill/>
        </p:spPr>
        <p:txBody>
          <a:bodyPr wrap="square" lIns="0" rIns="0" tIns="0" bIns="0" anchor="t">
            <a:spAutoFit/>
          </a:bodyPr>
          <a:lstStyle/>
          <a:p>
            <a:pPr algn="l">
              <a:lnSpc>
                <a:spcPct val="92000"/>
              </a:lnSpc>
              <a:spcAft>
                <a:spcPts val="500"/>
              </a:spcAft>
            </a:pPr>
            <a:r>
              <a:rPr sz="850" b="0" i="0">
                <a:solidFill>
                  <a:srgbClr val="0F5885"/>
                </a:solidFill>
                <a:latin typeface="Calibri"/>
              </a:rPr>
              <a:t>Render free tier · render.yaml · GitHub · uvicorn/FastAPI</a:t>
            </a:r>
          </a:p>
        </p:txBody>
      </p:sp>
      <p:sp>
        <p:nvSpPr>
          <p:cNvPr id="49" name="Rectangle 48"/>
          <p:cNvSpPr/>
          <p:nvPr/>
        </p:nvSpPr>
        <p:spPr>
          <a:xfrm>
            <a:off x="777240" y="5614416"/>
            <a:ext cx="10637215" cy="7315"/>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5641848"/>
            <a:ext cx="2057400" cy="365760"/>
          </a:xfrm>
          <a:prstGeom prst="rect">
            <a:avLst/>
          </a:prstGeom>
          <a:noFill/>
        </p:spPr>
        <p:txBody>
          <a:bodyPr wrap="square" lIns="0" rIns="0" tIns="0" bIns="0" anchor="t">
            <a:spAutoFit/>
          </a:bodyPr>
          <a:lstStyle/>
          <a:p>
            <a:pPr algn="l">
              <a:spcAft>
                <a:spcPts val="500"/>
              </a:spcAft>
            </a:pPr>
            <a:r>
              <a:rPr sz="1000" b="1" i="0">
                <a:solidFill>
                  <a:srgbClr val="0C2B45"/>
                </a:solidFill>
                <a:latin typeface="Cambria"/>
              </a:rPr>
              <a:t>Cybersecurity &amp; privacy</a:t>
            </a:r>
          </a:p>
        </p:txBody>
      </p:sp>
      <p:sp>
        <p:nvSpPr>
          <p:cNvPr id="51" name="TextBox 50"/>
          <p:cNvSpPr txBox="1"/>
          <p:nvPr/>
        </p:nvSpPr>
        <p:spPr>
          <a:xfrm>
            <a:off x="2880360" y="5641848"/>
            <a:ext cx="5029200" cy="365760"/>
          </a:xfrm>
          <a:prstGeom prst="rect">
            <a:avLst/>
          </a:prstGeom>
          <a:noFill/>
        </p:spPr>
        <p:txBody>
          <a:bodyPr wrap="square" lIns="0" rIns="0" tIns="0" bIns="0" anchor="t">
            <a:spAutoFit/>
          </a:bodyPr>
          <a:lstStyle/>
          <a:p>
            <a:pPr algn="l">
              <a:lnSpc>
                <a:spcPct val="92000"/>
              </a:lnSpc>
              <a:spcAft>
                <a:spcPts val="500"/>
              </a:spcAft>
            </a:pPr>
            <a:r>
              <a:rPr sz="880" b="0" i="0">
                <a:solidFill>
                  <a:srgbClr val="6B6E72"/>
                </a:solidFill>
                <a:latin typeface="Calibri"/>
              </a:rPr>
              <a:t>Signed admin sessions, rate limits, strict CSP, validated inputs, SSRF guard, upload never stored, erase and retention.</a:t>
            </a:r>
          </a:p>
        </p:txBody>
      </p:sp>
      <p:sp>
        <p:nvSpPr>
          <p:cNvPr id="52" name="TextBox 51"/>
          <p:cNvSpPr txBox="1"/>
          <p:nvPr/>
        </p:nvSpPr>
        <p:spPr>
          <a:xfrm>
            <a:off x="8046720" y="5641848"/>
            <a:ext cx="3367735" cy="365760"/>
          </a:xfrm>
          <a:prstGeom prst="rect">
            <a:avLst/>
          </a:prstGeom>
          <a:noFill/>
        </p:spPr>
        <p:txBody>
          <a:bodyPr wrap="square" lIns="0" rIns="0" tIns="0" bIns="0" anchor="t">
            <a:spAutoFit/>
          </a:bodyPr>
          <a:lstStyle/>
          <a:p>
            <a:pPr algn="l">
              <a:lnSpc>
                <a:spcPct val="92000"/>
              </a:lnSpc>
              <a:spcAft>
                <a:spcPts val="500"/>
              </a:spcAft>
            </a:pPr>
            <a:r>
              <a:rPr sz="850" b="0" i="0">
                <a:solidFill>
                  <a:srgbClr val="0F5885"/>
                </a:solidFill>
                <a:latin typeface="Calibri"/>
              </a:rPr>
              <a:t>HMAC cookies · slowapi · CSP headers · pydantic · SQLite purge</a:t>
            </a:r>
          </a:p>
        </p:txBody>
      </p:sp>
      <p:sp>
        <p:nvSpPr>
          <p:cNvPr id="53" name="Rectangle 52"/>
          <p:cNvSpPr/>
          <p:nvPr/>
        </p:nvSpPr>
        <p:spPr>
          <a:xfrm>
            <a:off x="777240" y="5980176"/>
            <a:ext cx="10637215" cy="7315"/>
          </a:xfrm>
          <a:prstGeom prst="rect">
            <a:avLst/>
          </a:prstGeom>
          <a:solidFill>
            <a:srgbClr val="E6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6007608"/>
            <a:ext cx="2057400" cy="365760"/>
          </a:xfrm>
          <a:prstGeom prst="rect">
            <a:avLst/>
          </a:prstGeom>
          <a:noFill/>
        </p:spPr>
        <p:txBody>
          <a:bodyPr wrap="square" lIns="0" rIns="0" tIns="0" bIns="0" anchor="t">
            <a:spAutoFit/>
          </a:bodyPr>
          <a:lstStyle/>
          <a:p>
            <a:pPr algn="l">
              <a:spcAft>
                <a:spcPts val="500"/>
              </a:spcAft>
            </a:pPr>
            <a:r>
              <a:rPr sz="1000" b="1" i="0">
                <a:solidFill>
                  <a:srgbClr val="0C2B45"/>
                </a:solidFill>
                <a:latin typeface="Cambria"/>
              </a:rPr>
              <a:t>Reliable &amp; observable</a:t>
            </a:r>
          </a:p>
        </p:txBody>
      </p:sp>
      <p:sp>
        <p:nvSpPr>
          <p:cNvPr id="55" name="TextBox 54"/>
          <p:cNvSpPr txBox="1"/>
          <p:nvPr/>
        </p:nvSpPr>
        <p:spPr>
          <a:xfrm>
            <a:off x="2880360" y="6007608"/>
            <a:ext cx="5029200" cy="365760"/>
          </a:xfrm>
          <a:prstGeom prst="rect">
            <a:avLst/>
          </a:prstGeom>
          <a:noFill/>
        </p:spPr>
        <p:txBody>
          <a:bodyPr wrap="square" lIns="0" rIns="0" tIns="0" bIns="0" anchor="t">
            <a:spAutoFit/>
          </a:bodyPr>
          <a:lstStyle/>
          <a:p>
            <a:pPr algn="l">
              <a:lnSpc>
                <a:spcPct val="92000"/>
              </a:lnSpc>
              <a:spcAft>
                <a:spcPts val="500"/>
              </a:spcAft>
            </a:pPr>
            <a:r>
              <a:rPr sz="880" b="0" i="0">
                <a:solidFill>
                  <a:srgbClr val="6B6E72"/>
                </a:solidFill>
                <a:latin typeface="Calibri"/>
              </a:rPr>
              <a:t>JSON logs, /health, in-app event log, per-turn latency and tokens; offline engine takes over if the AI service fails.</a:t>
            </a:r>
          </a:p>
        </p:txBody>
      </p:sp>
      <p:sp>
        <p:nvSpPr>
          <p:cNvPr id="56" name="TextBox 55"/>
          <p:cNvSpPr txBox="1"/>
          <p:nvPr/>
        </p:nvSpPr>
        <p:spPr>
          <a:xfrm>
            <a:off x="8046720" y="6007608"/>
            <a:ext cx="3367735" cy="365760"/>
          </a:xfrm>
          <a:prstGeom prst="rect">
            <a:avLst/>
          </a:prstGeom>
          <a:noFill/>
        </p:spPr>
        <p:txBody>
          <a:bodyPr wrap="square" lIns="0" rIns="0" tIns="0" bIns="0" anchor="t">
            <a:spAutoFit/>
          </a:bodyPr>
          <a:lstStyle/>
          <a:p>
            <a:pPr algn="l">
              <a:lnSpc>
                <a:spcPct val="92000"/>
              </a:lnSpc>
              <a:spcAft>
                <a:spcPts val="500"/>
              </a:spcAft>
            </a:pPr>
            <a:r>
              <a:rPr sz="850" b="0" i="0">
                <a:solidFill>
                  <a:srgbClr val="0F5885"/>
                </a:solidFill>
                <a:latin typeface="Calibri"/>
              </a:rPr>
              <a:t>Python logging · events table · /health · automatic fallback engine</a:t>
            </a:r>
          </a:p>
        </p:txBody>
      </p:sp>
      <p:sp>
        <p:nvSpPr>
          <p:cNvPr id="57" name="TextBox 56"/>
          <p:cNvSpPr txBox="1"/>
          <p:nvPr/>
        </p:nvSpPr>
        <p:spPr>
          <a:xfrm>
            <a:off x="777240" y="6419088"/>
            <a:ext cx="8686800" cy="237744"/>
          </a:xfrm>
          <a:prstGeom prst="rect">
            <a:avLst/>
          </a:prstGeom>
          <a:noFill/>
        </p:spPr>
        <p:txBody>
          <a:bodyPr wrap="square" lIns="0" rIns="0" tIns="0" bIns="0" anchor="t">
            <a:spAutoFit/>
          </a:bodyPr>
          <a:lstStyle/>
          <a:p>
            <a:pPr algn="l">
              <a:spcAft>
                <a:spcPts val="500"/>
              </a:spcAft>
            </a:pPr>
            <a:r>
              <a:rPr sz="850" b="0" i="0">
                <a:solidFill>
                  <a:srgbClr val="6B6E72"/>
                </a:solidFill>
                <a:latin typeface="Calibri"/>
              </a:rPr>
              <a:t>Ayesha Faheem  ·  Digital HR &amp; AI Manager assignment  ·  prototype for assessment, not an official UBL service</a:t>
            </a:r>
          </a:p>
        </p:txBody>
      </p:sp>
      <p:sp>
        <p:nvSpPr>
          <p:cNvPr id="58" name="TextBox 57"/>
          <p:cNvSpPr txBox="1"/>
          <p:nvPr/>
        </p:nvSpPr>
        <p:spPr>
          <a:xfrm>
            <a:off x="10058400" y="6419088"/>
            <a:ext cx="1353312" cy="237744"/>
          </a:xfrm>
          <a:prstGeom prst="rect">
            <a:avLst/>
          </a:prstGeom>
          <a:noFill/>
        </p:spPr>
        <p:txBody>
          <a:bodyPr wrap="square" lIns="0" rIns="0" tIns="0" bIns="0" anchor="t">
            <a:spAutoFit/>
          </a:bodyPr>
          <a:lstStyle/>
          <a:p>
            <a:pPr algn="r">
              <a:spcAft>
                <a:spcPts val="500"/>
              </a:spcAft>
            </a:pPr>
            <a:r>
              <a:rPr sz="850" b="0" i="0">
                <a:solidFill>
                  <a:srgbClr val="6B6E72"/>
                </a:solidFill>
                <a:latin typeface="Calibri"/>
              </a:rP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